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Oswa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GrBBru+n3ZKuOPLoVbI9cKVqn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0a367c32c_9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0a367c32c_9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d0a367c32c_9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0a367c32c_9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d0a367c32c_9_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g3d0a367c32c_9_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0a367c32c_9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d0a367c32c_9_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d0a367c32c_9_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0a367c32c_9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d0a367c32c_9_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d0a367c32c_9_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0a367c32c_9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d0a367c32c_9_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g3d0a367c32c_9_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d0a367c32c_9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d0a367c32c_9_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g3d0a367c32c_9_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d0a367c32c_9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d0a367c32c_9_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g3d0a367c32c_9_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0a367c32c_9_4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d0a367c32c_9_4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g3d0a367c32c_9_4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0a367c32c_9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d0a367c32c_9_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g3d0a367c32c_9_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11" Type="http://schemas.openxmlformats.org/officeDocument/2006/relationships/slide" Target="/ppt/slides/slide9.xml"/><Relationship Id="rId10" Type="http://schemas.openxmlformats.org/officeDocument/2006/relationships/slide" Target="/ppt/slides/slide7.xml"/><Relationship Id="rId9" Type="http://schemas.openxmlformats.org/officeDocument/2006/relationships/slide" Target="/ppt/slides/slide6.xml"/><Relationship Id="rId5" Type="http://schemas.openxmlformats.org/officeDocument/2006/relationships/slide" Target="/ppt/slides/slide2.xml"/><Relationship Id="rId6" Type="http://schemas.openxmlformats.org/officeDocument/2006/relationships/slide" Target="/ppt/slides/slide3.xml"/><Relationship Id="rId7" Type="http://schemas.openxmlformats.org/officeDocument/2006/relationships/slide" Target="/ppt/slides/slide4.xml"/><Relationship Id="rId8" Type="http://schemas.openxmlformats.org/officeDocument/2006/relationships/slide" Target="/ppt/slides/slide5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g3d0a367c32c_9_0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g3d0a367c32c_9_0"/>
          <p:cNvCxnSpPr/>
          <p:nvPr/>
        </p:nvCxnSpPr>
        <p:spPr>
          <a:xfrm>
            <a:off x="0" y="429768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g3d0a367c32c_9_0"/>
          <p:cNvCxnSpPr/>
          <p:nvPr/>
        </p:nvCxnSpPr>
        <p:spPr>
          <a:xfrm>
            <a:off x="0" y="85953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g3d0a367c32c_9_0"/>
          <p:cNvCxnSpPr/>
          <p:nvPr/>
        </p:nvCxnSpPr>
        <p:spPr>
          <a:xfrm>
            <a:off x="0" y="1289304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g3d0a367c32c_9_0"/>
          <p:cNvCxnSpPr/>
          <p:nvPr/>
        </p:nvCxnSpPr>
        <p:spPr>
          <a:xfrm>
            <a:off x="0" y="171907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g3d0a367c32c_9_0"/>
          <p:cNvCxnSpPr/>
          <p:nvPr/>
        </p:nvCxnSpPr>
        <p:spPr>
          <a:xfrm>
            <a:off x="0" y="2148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g3d0a367c32c_9_0"/>
          <p:cNvCxnSpPr/>
          <p:nvPr/>
        </p:nvCxnSpPr>
        <p:spPr>
          <a:xfrm>
            <a:off x="0" y="2578608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g3d0a367c32c_9_0"/>
          <p:cNvCxnSpPr/>
          <p:nvPr/>
        </p:nvCxnSpPr>
        <p:spPr>
          <a:xfrm>
            <a:off x="0" y="300837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g3d0a367c32c_9_0"/>
          <p:cNvCxnSpPr/>
          <p:nvPr/>
        </p:nvCxnSpPr>
        <p:spPr>
          <a:xfrm>
            <a:off x="0" y="3438144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g3d0a367c32c_9_0"/>
          <p:cNvCxnSpPr/>
          <p:nvPr/>
        </p:nvCxnSpPr>
        <p:spPr>
          <a:xfrm>
            <a:off x="0" y="386791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g3d0a367c32c_9_0"/>
          <p:cNvCxnSpPr/>
          <p:nvPr/>
        </p:nvCxnSpPr>
        <p:spPr>
          <a:xfrm>
            <a:off x="0" y="42976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g3d0a367c32c_9_0"/>
          <p:cNvCxnSpPr/>
          <p:nvPr/>
        </p:nvCxnSpPr>
        <p:spPr>
          <a:xfrm>
            <a:off x="0" y="4727448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g3d0a367c32c_9_0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g3d0a367c32c_9_0"/>
          <p:cNvCxnSpPr/>
          <p:nvPr/>
        </p:nvCxnSpPr>
        <p:spPr>
          <a:xfrm>
            <a:off x="475488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g3d0a367c32c_9_0"/>
          <p:cNvCxnSpPr/>
          <p:nvPr/>
        </p:nvCxnSpPr>
        <p:spPr>
          <a:xfrm>
            <a:off x="95097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g3d0a367c32c_9_0"/>
          <p:cNvCxnSpPr/>
          <p:nvPr/>
        </p:nvCxnSpPr>
        <p:spPr>
          <a:xfrm>
            <a:off x="142646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g3d0a367c32c_9_0"/>
          <p:cNvCxnSpPr/>
          <p:nvPr/>
        </p:nvCxnSpPr>
        <p:spPr>
          <a:xfrm>
            <a:off x="1901952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g3d0a367c32c_9_0"/>
          <p:cNvCxnSpPr/>
          <p:nvPr/>
        </p:nvCxnSpPr>
        <p:spPr>
          <a:xfrm>
            <a:off x="2377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g3d0a367c32c_9_0"/>
          <p:cNvCxnSpPr/>
          <p:nvPr/>
        </p:nvCxnSpPr>
        <p:spPr>
          <a:xfrm>
            <a:off x="2852928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g3d0a367c32c_9_0"/>
          <p:cNvCxnSpPr/>
          <p:nvPr/>
        </p:nvCxnSpPr>
        <p:spPr>
          <a:xfrm>
            <a:off x="332841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g3d0a367c32c_9_0"/>
          <p:cNvCxnSpPr/>
          <p:nvPr/>
        </p:nvCxnSpPr>
        <p:spPr>
          <a:xfrm>
            <a:off x="380390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g3d0a367c32c_9_0"/>
          <p:cNvCxnSpPr/>
          <p:nvPr/>
        </p:nvCxnSpPr>
        <p:spPr>
          <a:xfrm>
            <a:off x="4279392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g3d0a367c32c_9_0"/>
          <p:cNvCxnSpPr/>
          <p:nvPr/>
        </p:nvCxnSpPr>
        <p:spPr>
          <a:xfrm>
            <a:off x="4754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g3d0a367c32c_9_0"/>
          <p:cNvCxnSpPr/>
          <p:nvPr/>
        </p:nvCxnSpPr>
        <p:spPr>
          <a:xfrm>
            <a:off x="5230368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g3d0a367c32c_9_0"/>
          <p:cNvCxnSpPr/>
          <p:nvPr/>
        </p:nvCxnSpPr>
        <p:spPr>
          <a:xfrm>
            <a:off x="570585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g3d0a367c32c_9_0"/>
          <p:cNvCxnSpPr/>
          <p:nvPr/>
        </p:nvCxnSpPr>
        <p:spPr>
          <a:xfrm>
            <a:off x="618134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g3d0a367c32c_9_0"/>
          <p:cNvCxnSpPr/>
          <p:nvPr/>
        </p:nvCxnSpPr>
        <p:spPr>
          <a:xfrm>
            <a:off x="6656832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g3d0a367c32c_9_0"/>
          <p:cNvCxnSpPr/>
          <p:nvPr/>
        </p:nvCxnSpPr>
        <p:spPr>
          <a:xfrm>
            <a:off x="7132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g3d0a367c32c_9_0"/>
          <p:cNvCxnSpPr/>
          <p:nvPr/>
        </p:nvCxnSpPr>
        <p:spPr>
          <a:xfrm>
            <a:off x="7607808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g3d0a367c32c_9_0"/>
          <p:cNvCxnSpPr/>
          <p:nvPr/>
        </p:nvCxnSpPr>
        <p:spPr>
          <a:xfrm>
            <a:off x="808329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g3d0a367c32c_9_0"/>
          <p:cNvCxnSpPr/>
          <p:nvPr/>
        </p:nvCxnSpPr>
        <p:spPr>
          <a:xfrm>
            <a:off x="855878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g3d0a367c32c_9_0"/>
          <p:cNvCxnSpPr/>
          <p:nvPr/>
        </p:nvCxnSpPr>
        <p:spPr>
          <a:xfrm>
            <a:off x="9034272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g3d0a367c32c_9_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user-data/uploads/1773579229440__87B90334-3626-4631-9F0D-E1213B7B4D23_.png" id="49" name="Google Shape;49;g3d0a367c32c_9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457200"/>
            <a:ext cx="5303520" cy="117957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3d0a367c32c_9_0"/>
          <p:cNvSpPr/>
          <p:nvPr/>
        </p:nvSpPr>
        <p:spPr>
          <a:xfrm>
            <a:off x="411480" y="1783080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STIMA E CONTROLLO DEI COSTI DI PROGETTO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g3d0a367c32c_9_0"/>
          <p:cNvCxnSpPr/>
          <p:nvPr/>
        </p:nvCxnSpPr>
        <p:spPr>
          <a:xfrm>
            <a:off x="411480" y="224028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g3d0a367c32c_9_0"/>
          <p:cNvSpPr/>
          <p:nvPr/>
        </p:nvSpPr>
        <p:spPr>
          <a:xfrm>
            <a:off x="411480" y="242316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10 settimane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d0a367c32c_9_0"/>
          <p:cNvSpPr/>
          <p:nvPr/>
        </p:nvSpPr>
        <p:spPr>
          <a:xfrm>
            <a:off x="411480" y="2852928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DURATA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d0a367c32c_9_0"/>
          <p:cNvSpPr/>
          <p:nvPr/>
        </p:nvSpPr>
        <p:spPr>
          <a:xfrm>
            <a:off x="2514600" y="242316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€ 316 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d0a367c32c_9_0"/>
          <p:cNvSpPr/>
          <p:nvPr/>
        </p:nvSpPr>
        <p:spPr>
          <a:xfrm>
            <a:off x="2514600" y="2852928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d0a367c32c_9_0"/>
          <p:cNvSpPr/>
          <p:nvPr/>
        </p:nvSpPr>
        <p:spPr>
          <a:xfrm>
            <a:off x="4617720" y="242316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Fine Sett.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d0a367c32c_9_0"/>
          <p:cNvSpPr/>
          <p:nvPr/>
        </p:nvSpPr>
        <p:spPr>
          <a:xfrm>
            <a:off x="4617720" y="2852928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DATA RILEVAMENTO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d0a367c32c_9_0"/>
          <p:cNvSpPr/>
          <p:nvPr/>
        </p:nvSpPr>
        <p:spPr>
          <a:xfrm>
            <a:off x="6720840" y="242316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Alpha Build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d0a367c32c_9_0"/>
          <p:cNvSpPr/>
          <p:nvPr/>
        </p:nvSpPr>
        <p:spPr>
          <a:xfrm>
            <a:off x="6720840" y="2852928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SCENARIO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g3d0a367c32c_9_0"/>
          <p:cNvCxnSpPr/>
          <p:nvPr/>
        </p:nvCxnSpPr>
        <p:spPr>
          <a:xfrm>
            <a:off x="411480" y="320040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g3d0a367c32c_9_0"/>
          <p:cNvSpPr/>
          <p:nvPr/>
        </p:nvSpPr>
        <p:spPr>
          <a:xfrm>
            <a:off x="438918" y="3337560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d0a367c32c_9_0"/>
          <p:cNvSpPr/>
          <p:nvPr/>
        </p:nvSpPr>
        <p:spPr>
          <a:xfrm>
            <a:off x="7672288" y="4784877"/>
            <a:ext cx="1288800" cy="198600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d0a367c32c_9_0"/>
          <p:cNvSpPr/>
          <p:nvPr/>
        </p:nvSpPr>
        <p:spPr>
          <a:xfrm>
            <a:off x="7691925" y="4784852"/>
            <a:ext cx="1269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MANAGEMENT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g3d0a367c32c_9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1750" y="38175"/>
            <a:ext cx="3189373" cy="2126267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d0a367c32c_9_0"/>
          <p:cNvSpPr txBox="1"/>
          <p:nvPr/>
        </p:nvSpPr>
        <p:spPr>
          <a:xfrm>
            <a:off x="297175" y="3337550"/>
            <a:ext cx="13869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INDICE:</a:t>
            </a:r>
            <a:endParaRPr b="0" i="1" sz="1400" u="none" cap="none" strike="noStrike">
              <a:solidFill>
                <a:srgbClr val="FFE6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FFE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d0a367c32c_9_0"/>
          <p:cNvSpPr/>
          <p:nvPr/>
        </p:nvSpPr>
        <p:spPr>
          <a:xfrm>
            <a:off x="288375" y="3647725"/>
            <a:ext cx="4516500" cy="11190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EC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swald"/>
              <a:buAutoNum type="arabicPeriod"/>
            </a:pPr>
            <a:r>
              <a:rPr b="0" i="1" lang="en-US" sz="1000" u="sng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IL PROGETTO</a:t>
            </a:r>
            <a:endParaRPr b="0" i="1" sz="1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swald"/>
              <a:buAutoNum type="arabicPeriod"/>
            </a:pPr>
            <a:r>
              <a:rPr b="0" i="1" lang="en-US" sz="1000" u="sng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IDENTIFICAZIONE DEI COSTI</a:t>
            </a:r>
            <a:endParaRPr b="0" i="1" sz="1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swald"/>
              <a:buAutoNum type="arabicPeriod"/>
            </a:pPr>
            <a:r>
              <a:rPr b="0" i="1" lang="en-US" sz="1000" u="sng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BASELINE COSTI</a:t>
            </a:r>
            <a:endParaRPr b="0" i="1" sz="1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swald"/>
              <a:buAutoNum type="arabicPeriod"/>
            </a:pPr>
            <a:r>
              <a:rPr b="0" i="1" lang="en-US" sz="1000" u="sng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BCW-BCWP-ACWP</a:t>
            </a:r>
            <a:endParaRPr b="0" i="1" sz="1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swald"/>
              <a:buAutoNum type="arabicPeriod"/>
            </a:pPr>
            <a:r>
              <a:rPr b="0" i="1" lang="en-US" sz="1000" u="sng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CV E SV</a:t>
            </a:r>
            <a:endParaRPr b="0" i="1" sz="1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swald"/>
              <a:buAutoNum type="arabicPeriod"/>
            </a:pPr>
            <a:r>
              <a:rPr b="0" i="1" lang="en-US" sz="1000" u="sng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PIANO DI RIENTRO</a:t>
            </a:r>
            <a:endParaRPr b="0" i="1" sz="1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swald"/>
              <a:buAutoNum type="arabicPeriod"/>
            </a:pPr>
            <a:r>
              <a:rPr b="0" i="1" lang="en-US" sz="1000" u="sng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  <a:hlinkClick action="ppaction://hlinksldjump"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SINTESI</a:t>
            </a:r>
            <a:endParaRPr b="0" i="1" sz="10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0a367c32c_9_5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d0a367c32c_9_56"/>
          <p:cNvSpPr/>
          <p:nvPr/>
        </p:nvSpPr>
        <p:spPr>
          <a:xfrm>
            <a:off x="411480" y="164592"/>
            <a:ext cx="2286000" cy="20116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01 — PROGETTO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d0a367c32c_9_56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Il Progetto: Cyberpunk 2077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d0a367c32c_9_56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d0a367c32c_9_56"/>
          <p:cNvSpPr/>
          <p:nvPr/>
        </p:nvSpPr>
        <p:spPr>
          <a:xfrm>
            <a:off x="411480" y="1325880"/>
            <a:ext cx="4754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Cyberpunk 2077</a:t>
            </a:r>
            <a:r>
              <a:rPr b="0" i="0" lang="en-US" sz="1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 è un GDR open-world sviluppato da CD Projekt RED, ambientato nella megalopoli distopica di Night City. Il progetto ha coinvolto oltre 500 sviluppatori in 9 anni di sviluppo ed è uno dei videogiochi più costosi della storia.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d0a367c32c_9_56"/>
          <p:cNvSpPr/>
          <p:nvPr/>
        </p:nvSpPr>
        <p:spPr>
          <a:xfrm>
            <a:off x="411480" y="2743200"/>
            <a:ext cx="2377440" cy="41148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d0a367c32c_9_56"/>
          <p:cNvSpPr/>
          <p:nvPr/>
        </p:nvSpPr>
        <p:spPr>
          <a:xfrm>
            <a:off x="484632" y="27432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Studio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d0a367c32c_9_56"/>
          <p:cNvSpPr/>
          <p:nvPr/>
        </p:nvSpPr>
        <p:spPr>
          <a:xfrm>
            <a:off x="1417320" y="274320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CD Projekt RED (Varsavia)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d0a367c32c_9_56"/>
          <p:cNvSpPr/>
          <p:nvPr/>
        </p:nvSpPr>
        <p:spPr>
          <a:xfrm>
            <a:off x="2880360" y="2743200"/>
            <a:ext cx="2377440" cy="41148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d0a367c32c_9_56"/>
          <p:cNvSpPr/>
          <p:nvPr/>
        </p:nvSpPr>
        <p:spPr>
          <a:xfrm>
            <a:off x="2953512" y="274320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Piattaforme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d0a367c32c_9_56"/>
          <p:cNvSpPr/>
          <p:nvPr/>
        </p:nvSpPr>
        <p:spPr>
          <a:xfrm>
            <a:off x="3886200" y="2743200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PC, PS5, PS4 , xbox one, Xbox Series X/S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d0a367c32c_9_56"/>
          <p:cNvSpPr/>
          <p:nvPr/>
        </p:nvSpPr>
        <p:spPr>
          <a:xfrm>
            <a:off x="411480" y="3246120"/>
            <a:ext cx="2377440" cy="41148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d0a367c32c_9_56"/>
          <p:cNvSpPr/>
          <p:nvPr/>
        </p:nvSpPr>
        <p:spPr>
          <a:xfrm>
            <a:off x="484632" y="324612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Lancio reale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d0a367c32c_9_56"/>
          <p:cNvSpPr/>
          <p:nvPr/>
        </p:nvSpPr>
        <p:spPr>
          <a:xfrm>
            <a:off x="1417320" y="32461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10 dicembre 2020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d0a367c32c_9_56"/>
          <p:cNvSpPr/>
          <p:nvPr/>
        </p:nvSpPr>
        <p:spPr>
          <a:xfrm>
            <a:off x="2880360" y="3246120"/>
            <a:ext cx="2377440" cy="41148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d0a367c32c_9_56"/>
          <p:cNvSpPr/>
          <p:nvPr/>
        </p:nvSpPr>
        <p:spPr>
          <a:xfrm>
            <a:off x="2953512" y="324612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Budget reale est.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d0a367c32c_9_56"/>
          <p:cNvSpPr/>
          <p:nvPr/>
        </p:nvSpPr>
        <p:spPr>
          <a:xfrm>
            <a:off x="3886200" y="32461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~€ 300–330 milioni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d0a367c32c_9_56"/>
          <p:cNvSpPr/>
          <p:nvPr/>
        </p:nvSpPr>
        <p:spPr>
          <a:xfrm>
            <a:off x="411480" y="3749040"/>
            <a:ext cx="2377440" cy="41148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d0a367c32c_9_56"/>
          <p:cNvSpPr/>
          <p:nvPr/>
        </p:nvSpPr>
        <p:spPr>
          <a:xfrm>
            <a:off x="484632" y="374904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Personale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d0a367c32c_9_56"/>
          <p:cNvSpPr/>
          <p:nvPr/>
        </p:nvSpPr>
        <p:spPr>
          <a:xfrm>
            <a:off x="1417320" y="374904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~500 sviluppatori 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d0a367c32c_9_56"/>
          <p:cNvSpPr/>
          <p:nvPr/>
        </p:nvSpPr>
        <p:spPr>
          <a:xfrm>
            <a:off x="2880360" y="3749040"/>
            <a:ext cx="2377440" cy="41148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d0a367c32c_9_56"/>
          <p:cNvSpPr/>
          <p:nvPr/>
        </p:nvSpPr>
        <p:spPr>
          <a:xfrm>
            <a:off x="2953512" y="3749040"/>
            <a:ext cx="1005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Engine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d0a367c32c_9_56"/>
          <p:cNvSpPr/>
          <p:nvPr/>
        </p:nvSpPr>
        <p:spPr>
          <a:xfrm>
            <a:off x="3886200" y="374904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REDengine 4 (proprietario)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d0a367c32c_9_56"/>
          <p:cNvSpPr/>
          <p:nvPr/>
        </p:nvSpPr>
        <p:spPr>
          <a:xfrm>
            <a:off x="5349240" y="1325880"/>
            <a:ext cx="3383280" cy="301752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d0a367c32c_9_56"/>
          <p:cNvSpPr/>
          <p:nvPr/>
        </p:nvSpPr>
        <p:spPr>
          <a:xfrm>
            <a:off x="5349240" y="1325880"/>
            <a:ext cx="3383280" cy="45720"/>
          </a:xfrm>
          <a:prstGeom prst="rect">
            <a:avLst/>
          </a:prstGeom>
          <a:solidFill>
            <a:srgbClr val="00CCFF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d0a367c32c_9_56"/>
          <p:cNvSpPr/>
          <p:nvPr/>
        </p:nvSpPr>
        <p:spPr>
          <a:xfrm>
            <a:off x="5349240" y="1417320"/>
            <a:ext cx="3383400" cy="274200"/>
          </a:xfrm>
          <a:prstGeom prst="rect">
            <a:avLst/>
          </a:prstGeom>
          <a:solidFill>
            <a:srgbClr val="0C343D"/>
          </a:solidFill>
          <a:ln cap="flat" cmpd="sng" w="9525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SCENARIO SEMPLIFICATO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g3d0a367c32c_9_56"/>
          <p:cNvCxnSpPr/>
          <p:nvPr/>
        </p:nvCxnSpPr>
        <p:spPr>
          <a:xfrm>
            <a:off x="5440680" y="2176272"/>
            <a:ext cx="3200400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g3d0a367c32c_9_56"/>
          <p:cNvSpPr/>
          <p:nvPr/>
        </p:nvSpPr>
        <p:spPr>
          <a:xfrm>
            <a:off x="5440680" y="18288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Durata simulata: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d0a367c32c_9_56"/>
          <p:cNvSpPr/>
          <p:nvPr/>
        </p:nvSpPr>
        <p:spPr>
          <a:xfrm>
            <a:off x="7223760" y="1828800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10 settimane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g3d0a367c32c_9_56"/>
          <p:cNvCxnSpPr/>
          <p:nvPr/>
        </p:nvCxnSpPr>
        <p:spPr>
          <a:xfrm>
            <a:off x="5440680" y="2560320"/>
            <a:ext cx="3200400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g3d0a367c32c_9_56"/>
          <p:cNvSpPr/>
          <p:nvPr/>
        </p:nvSpPr>
        <p:spPr>
          <a:xfrm>
            <a:off x="5440680" y="221284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Budget totale: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d0a367c32c_9_56"/>
          <p:cNvSpPr/>
          <p:nvPr/>
        </p:nvSpPr>
        <p:spPr>
          <a:xfrm>
            <a:off x="7223760" y="221284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€ 316.000.000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g3d0a367c32c_9_56"/>
          <p:cNvCxnSpPr/>
          <p:nvPr/>
        </p:nvCxnSpPr>
        <p:spPr>
          <a:xfrm>
            <a:off x="5440680" y="2944368"/>
            <a:ext cx="3200400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g3d0a367c32c_9_56"/>
          <p:cNvSpPr/>
          <p:nvPr/>
        </p:nvSpPr>
        <p:spPr>
          <a:xfrm>
            <a:off x="5440680" y="259689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Team simulato: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d0a367c32c_9_56"/>
          <p:cNvSpPr/>
          <p:nvPr/>
        </p:nvSpPr>
        <p:spPr>
          <a:xfrm>
            <a:off x="7223760" y="2596896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500 sviluppatori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g3d0a367c32c_9_56"/>
          <p:cNvCxnSpPr/>
          <p:nvPr/>
        </p:nvCxnSpPr>
        <p:spPr>
          <a:xfrm>
            <a:off x="5440680" y="3328416"/>
            <a:ext cx="3200400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g3d0a367c32c_9_56"/>
          <p:cNvSpPr/>
          <p:nvPr/>
        </p:nvSpPr>
        <p:spPr>
          <a:xfrm>
            <a:off x="5440680" y="298094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Data rilevamento: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d0a367c32c_9_56"/>
          <p:cNvSpPr/>
          <p:nvPr/>
        </p:nvSpPr>
        <p:spPr>
          <a:xfrm>
            <a:off x="7223760" y="2980944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Fine Settimana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g3d0a367c32c_9_56"/>
          <p:cNvCxnSpPr/>
          <p:nvPr/>
        </p:nvCxnSpPr>
        <p:spPr>
          <a:xfrm>
            <a:off x="5440680" y="3712464"/>
            <a:ext cx="3200400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g3d0a367c32c_9_56"/>
          <p:cNvSpPr/>
          <p:nvPr/>
        </p:nvSpPr>
        <p:spPr>
          <a:xfrm>
            <a:off x="5440680" y="336499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Fase attuale: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d0a367c32c_9_56"/>
          <p:cNvSpPr/>
          <p:nvPr/>
        </p:nvSpPr>
        <p:spPr>
          <a:xfrm>
            <a:off x="7223760" y="336499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Alpha Build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g3d0a367c32c_9_56"/>
          <p:cNvCxnSpPr/>
          <p:nvPr/>
        </p:nvCxnSpPr>
        <p:spPr>
          <a:xfrm>
            <a:off x="5440680" y="4096512"/>
            <a:ext cx="3200400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g3d0a367c32c_9_56"/>
          <p:cNvSpPr/>
          <p:nvPr/>
        </p:nvSpPr>
        <p:spPr>
          <a:xfrm>
            <a:off x="5440680" y="3749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Rilascio previsto: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d0a367c32c_9_56"/>
          <p:cNvSpPr/>
          <p:nvPr/>
        </p:nvSpPr>
        <p:spPr>
          <a:xfrm>
            <a:off x="7223760" y="3749040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Settimana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0a367c32c_9_5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d0a367c32c_9_57"/>
          <p:cNvSpPr/>
          <p:nvPr/>
        </p:nvSpPr>
        <p:spPr>
          <a:xfrm>
            <a:off x="411480" y="164592"/>
            <a:ext cx="2286000" cy="20116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02 — COSTI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0a367c32c_9_57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Identificazione dei Costi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d0a367c32c_9_57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d0a367c32c_9_57"/>
          <p:cNvSpPr/>
          <p:nvPr/>
        </p:nvSpPr>
        <p:spPr>
          <a:xfrm>
            <a:off x="411480" y="1298448"/>
            <a:ext cx="4023360" cy="292608"/>
          </a:xfrm>
          <a:prstGeom prst="rect">
            <a:avLst/>
          </a:prstGeom>
          <a:solidFill>
            <a:srgbClr val="222222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d0a367c32c_9_57"/>
          <p:cNvSpPr/>
          <p:nvPr/>
        </p:nvSpPr>
        <p:spPr>
          <a:xfrm>
            <a:off x="411480" y="129844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COSTI DI COSTRUZIONE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d0a367c32c_9_57"/>
          <p:cNvSpPr/>
          <p:nvPr/>
        </p:nvSpPr>
        <p:spPr>
          <a:xfrm>
            <a:off x="411480" y="1691640"/>
            <a:ext cx="4023360" cy="265176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d0a367c32c_9_57"/>
          <p:cNvSpPr/>
          <p:nvPr/>
        </p:nvSpPr>
        <p:spPr>
          <a:xfrm>
            <a:off x="502920" y="1691640"/>
            <a:ext cx="2834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Engine / Rendering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d0a367c32c_9_57"/>
          <p:cNvSpPr/>
          <p:nvPr/>
        </p:nvSpPr>
        <p:spPr>
          <a:xfrm>
            <a:off x="3291840" y="1691640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€ 72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d0a367c32c_9_57"/>
          <p:cNvSpPr/>
          <p:nvPr/>
        </p:nvSpPr>
        <p:spPr>
          <a:xfrm>
            <a:off x="411480" y="1975104"/>
            <a:ext cx="4023360" cy="265176"/>
          </a:xfrm>
          <a:prstGeom prst="rect">
            <a:avLst/>
          </a:prstGeom>
          <a:solidFill>
            <a:srgbClr val="242424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d0a367c32c_9_57"/>
          <p:cNvSpPr/>
          <p:nvPr/>
        </p:nvSpPr>
        <p:spPr>
          <a:xfrm>
            <a:off x="502920" y="1975104"/>
            <a:ext cx="2834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Gameplay &amp;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d0a367c32c_9_57"/>
          <p:cNvSpPr/>
          <p:nvPr/>
        </p:nvSpPr>
        <p:spPr>
          <a:xfrm>
            <a:off x="3291840" y="1975104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€ 45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d0a367c32c_9_57"/>
          <p:cNvSpPr/>
          <p:nvPr/>
        </p:nvSpPr>
        <p:spPr>
          <a:xfrm>
            <a:off x="411480" y="2258568"/>
            <a:ext cx="4023360" cy="265176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d0a367c32c_9_57"/>
          <p:cNvSpPr/>
          <p:nvPr/>
        </p:nvSpPr>
        <p:spPr>
          <a:xfrm>
            <a:off x="502920" y="2258568"/>
            <a:ext cx="2834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Asset 3D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d0a367c32c_9_57"/>
          <p:cNvSpPr/>
          <p:nvPr/>
        </p:nvSpPr>
        <p:spPr>
          <a:xfrm>
            <a:off x="3291840" y="2258568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€ 38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d0a367c32c_9_57"/>
          <p:cNvSpPr/>
          <p:nvPr/>
        </p:nvSpPr>
        <p:spPr>
          <a:xfrm>
            <a:off x="411480" y="2542032"/>
            <a:ext cx="4023360" cy="265176"/>
          </a:xfrm>
          <a:prstGeom prst="rect">
            <a:avLst/>
          </a:prstGeom>
          <a:solidFill>
            <a:srgbClr val="242424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d0a367c32c_9_57"/>
          <p:cNvSpPr/>
          <p:nvPr/>
        </p:nvSpPr>
        <p:spPr>
          <a:xfrm>
            <a:off x="502920" y="2542032"/>
            <a:ext cx="2834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Scrittura narrativa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d0a367c32c_9_57"/>
          <p:cNvSpPr/>
          <p:nvPr/>
        </p:nvSpPr>
        <p:spPr>
          <a:xfrm>
            <a:off x="3291840" y="2542032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€ 18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d0a367c32c_9_57"/>
          <p:cNvSpPr/>
          <p:nvPr/>
        </p:nvSpPr>
        <p:spPr>
          <a:xfrm>
            <a:off x="411480" y="2825496"/>
            <a:ext cx="4023360" cy="265176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d0a367c32c_9_57"/>
          <p:cNvSpPr/>
          <p:nvPr/>
        </p:nvSpPr>
        <p:spPr>
          <a:xfrm>
            <a:off x="502920" y="2825496"/>
            <a:ext cx="2834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Motion Capture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d0a367c32c_9_57"/>
          <p:cNvSpPr/>
          <p:nvPr/>
        </p:nvSpPr>
        <p:spPr>
          <a:xfrm>
            <a:off x="3291840" y="2825496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€ 22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d0a367c32c_9_57"/>
          <p:cNvSpPr/>
          <p:nvPr/>
        </p:nvSpPr>
        <p:spPr>
          <a:xfrm>
            <a:off x="411480" y="3108960"/>
            <a:ext cx="4023360" cy="265176"/>
          </a:xfrm>
          <a:prstGeom prst="rect">
            <a:avLst/>
          </a:prstGeom>
          <a:solidFill>
            <a:srgbClr val="242424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d0a367c32c_9_57"/>
          <p:cNvSpPr/>
          <p:nvPr/>
        </p:nvSpPr>
        <p:spPr>
          <a:xfrm>
            <a:off x="502920" y="3108960"/>
            <a:ext cx="2834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Musica &amp; Sound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d0a367c32c_9_57"/>
          <p:cNvSpPr/>
          <p:nvPr/>
        </p:nvSpPr>
        <p:spPr>
          <a:xfrm>
            <a:off x="3291840" y="3108960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€ 14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d0a367c32c_9_57"/>
          <p:cNvSpPr/>
          <p:nvPr/>
        </p:nvSpPr>
        <p:spPr>
          <a:xfrm>
            <a:off x="411480" y="3392424"/>
            <a:ext cx="4023360" cy="265176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d0a367c32c_9_57"/>
          <p:cNvSpPr/>
          <p:nvPr/>
        </p:nvSpPr>
        <p:spPr>
          <a:xfrm>
            <a:off x="502920" y="3392424"/>
            <a:ext cx="2834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Doppiaggio (13 lingue)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d0a367c32c_9_57"/>
          <p:cNvSpPr/>
          <p:nvPr/>
        </p:nvSpPr>
        <p:spPr>
          <a:xfrm>
            <a:off x="3291840" y="3392424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€ 12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d0a367c32c_9_57"/>
          <p:cNvSpPr/>
          <p:nvPr/>
        </p:nvSpPr>
        <p:spPr>
          <a:xfrm>
            <a:off x="411480" y="3675888"/>
            <a:ext cx="4023360" cy="265176"/>
          </a:xfrm>
          <a:prstGeom prst="rect">
            <a:avLst/>
          </a:prstGeom>
          <a:solidFill>
            <a:srgbClr val="242424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d0a367c32c_9_57"/>
          <p:cNvSpPr/>
          <p:nvPr/>
        </p:nvSpPr>
        <p:spPr>
          <a:xfrm>
            <a:off x="502920" y="3675888"/>
            <a:ext cx="2834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QA &amp; Testing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d0a367c32c_9_57"/>
          <p:cNvSpPr/>
          <p:nvPr/>
        </p:nvSpPr>
        <p:spPr>
          <a:xfrm>
            <a:off x="3291840" y="3675888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€ 19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d0a367c32c_9_57"/>
          <p:cNvSpPr/>
          <p:nvPr/>
        </p:nvSpPr>
        <p:spPr>
          <a:xfrm>
            <a:off x="411480" y="3959352"/>
            <a:ext cx="4023360" cy="265176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d0a367c32c_9_57"/>
          <p:cNvSpPr/>
          <p:nvPr/>
        </p:nvSpPr>
        <p:spPr>
          <a:xfrm>
            <a:off x="502920" y="3959352"/>
            <a:ext cx="2834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IT &amp; Licenze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d0a367c32c_9_57"/>
          <p:cNvSpPr/>
          <p:nvPr/>
        </p:nvSpPr>
        <p:spPr>
          <a:xfrm>
            <a:off x="3291840" y="3959352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€ 9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d0a367c32c_9_57"/>
          <p:cNvSpPr/>
          <p:nvPr/>
        </p:nvSpPr>
        <p:spPr>
          <a:xfrm>
            <a:off x="411480" y="4242816"/>
            <a:ext cx="4023360" cy="265176"/>
          </a:xfrm>
          <a:prstGeom prst="rect">
            <a:avLst/>
          </a:prstGeom>
          <a:solidFill>
            <a:srgbClr val="242424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d0a367c32c_9_57"/>
          <p:cNvSpPr/>
          <p:nvPr/>
        </p:nvSpPr>
        <p:spPr>
          <a:xfrm>
            <a:off x="502920" y="4242816"/>
            <a:ext cx="2834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PM &amp; HR overhead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d0a367c32c_9_57"/>
          <p:cNvSpPr/>
          <p:nvPr/>
        </p:nvSpPr>
        <p:spPr>
          <a:xfrm>
            <a:off x="3291840" y="4242816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€ 16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d0a367c32c_9_57"/>
          <p:cNvSpPr/>
          <p:nvPr/>
        </p:nvSpPr>
        <p:spPr>
          <a:xfrm>
            <a:off x="411480" y="4526280"/>
            <a:ext cx="4023360" cy="274320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d0a367c32c_9_57"/>
          <p:cNvSpPr/>
          <p:nvPr/>
        </p:nvSpPr>
        <p:spPr>
          <a:xfrm>
            <a:off x="502920" y="45262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TOTALE COSTRUZIONE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d0a367c32c_9_57"/>
          <p:cNvSpPr/>
          <p:nvPr/>
        </p:nvSpPr>
        <p:spPr>
          <a:xfrm>
            <a:off x="3291840" y="452628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€ 265 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d0a367c32c_9_57"/>
          <p:cNvSpPr/>
          <p:nvPr/>
        </p:nvSpPr>
        <p:spPr>
          <a:xfrm>
            <a:off x="4663440" y="1298448"/>
            <a:ext cx="4069080" cy="292608"/>
          </a:xfrm>
          <a:prstGeom prst="rect">
            <a:avLst/>
          </a:prstGeom>
          <a:solidFill>
            <a:srgbClr val="222222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d0a367c32c_9_57"/>
          <p:cNvSpPr/>
          <p:nvPr/>
        </p:nvSpPr>
        <p:spPr>
          <a:xfrm>
            <a:off x="4663440" y="1298448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COSTI DI AVVIAMENTO / LANCIO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d0a367c32c_9_57"/>
          <p:cNvSpPr/>
          <p:nvPr/>
        </p:nvSpPr>
        <p:spPr>
          <a:xfrm>
            <a:off x="4663440" y="1691640"/>
            <a:ext cx="4069080" cy="30175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d0a367c32c_9_57"/>
          <p:cNvSpPr/>
          <p:nvPr/>
        </p:nvSpPr>
        <p:spPr>
          <a:xfrm>
            <a:off x="4754880" y="1691640"/>
            <a:ext cx="2834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Marketing &amp; Advertising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d0a367c32c_9_57"/>
          <p:cNvSpPr/>
          <p:nvPr/>
        </p:nvSpPr>
        <p:spPr>
          <a:xfrm>
            <a:off x="7498080" y="1691640"/>
            <a:ext cx="1143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€ 27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d0a367c32c_9_57"/>
          <p:cNvSpPr/>
          <p:nvPr/>
        </p:nvSpPr>
        <p:spPr>
          <a:xfrm>
            <a:off x="4663440" y="2011680"/>
            <a:ext cx="4069080" cy="301752"/>
          </a:xfrm>
          <a:prstGeom prst="rect">
            <a:avLst/>
          </a:prstGeom>
          <a:solidFill>
            <a:srgbClr val="242424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d0a367c32c_9_57"/>
          <p:cNvSpPr/>
          <p:nvPr/>
        </p:nvSpPr>
        <p:spPr>
          <a:xfrm>
            <a:off x="4754880" y="2011680"/>
            <a:ext cx="2834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Certificazioni PS5/XSX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d0a367c32c_9_57"/>
          <p:cNvSpPr/>
          <p:nvPr/>
        </p:nvSpPr>
        <p:spPr>
          <a:xfrm>
            <a:off x="7498080" y="2011680"/>
            <a:ext cx="1143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€ 3.5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d0a367c32c_9_57"/>
          <p:cNvSpPr/>
          <p:nvPr/>
        </p:nvSpPr>
        <p:spPr>
          <a:xfrm>
            <a:off x="4663440" y="2331720"/>
            <a:ext cx="4069080" cy="30175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d0a367c32c_9_57"/>
          <p:cNvSpPr/>
          <p:nvPr/>
        </p:nvSpPr>
        <p:spPr>
          <a:xfrm>
            <a:off x="4754880" y="2331720"/>
            <a:ext cx="2834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Server Day-One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d0a367c32c_9_57"/>
          <p:cNvSpPr/>
          <p:nvPr/>
        </p:nvSpPr>
        <p:spPr>
          <a:xfrm>
            <a:off x="7498080" y="2331720"/>
            <a:ext cx="1143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€ 4.2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d0a367c32c_9_57"/>
          <p:cNvSpPr/>
          <p:nvPr/>
        </p:nvSpPr>
        <p:spPr>
          <a:xfrm>
            <a:off x="4663440" y="2651760"/>
            <a:ext cx="4069080" cy="301752"/>
          </a:xfrm>
          <a:prstGeom prst="rect">
            <a:avLst/>
          </a:prstGeom>
          <a:solidFill>
            <a:srgbClr val="242424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d0a367c32c_9_57"/>
          <p:cNvSpPr/>
          <p:nvPr/>
        </p:nvSpPr>
        <p:spPr>
          <a:xfrm>
            <a:off x="4754880" y="2651760"/>
            <a:ext cx="2834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Manifattura fisica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d0a367c32c_9_57"/>
          <p:cNvSpPr/>
          <p:nvPr/>
        </p:nvSpPr>
        <p:spPr>
          <a:xfrm>
            <a:off x="7498080" y="2651760"/>
            <a:ext cx="1143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€ 6.8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0a367c32c_9_57"/>
          <p:cNvSpPr/>
          <p:nvPr/>
        </p:nvSpPr>
        <p:spPr>
          <a:xfrm>
            <a:off x="4663440" y="2971800"/>
            <a:ext cx="4069080" cy="30175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d0a367c32c_9_57"/>
          <p:cNvSpPr/>
          <p:nvPr/>
        </p:nvSpPr>
        <p:spPr>
          <a:xfrm>
            <a:off x="4754880" y="2971800"/>
            <a:ext cx="2834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Distribuzione retail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0a367c32c_9_57"/>
          <p:cNvSpPr/>
          <p:nvPr/>
        </p:nvSpPr>
        <p:spPr>
          <a:xfrm>
            <a:off x="7498080" y="2971800"/>
            <a:ext cx="1143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€ 5.5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d0a367c32c_9_57"/>
          <p:cNvSpPr/>
          <p:nvPr/>
        </p:nvSpPr>
        <p:spPr>
          <a:xfrm>
            <a:off x="4663440" y="3291840"/>
            <a:ext cx="4069080" cy="301752"/>
          </a:xfrm>
          <a:prstGeom prst="rect">
            <a:avLst/>
          </a:prstGeom>
          <a:solidFill>
            <a:srgbClr val="242424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d0a367c32c_9_57"/>
          <p:cNvSpPr/>
          <p:nvPr/>
        </p:nvSpPr>
        <p:spPr>
          <a:xfrm>
            <a:off x="4754880" y="3291840"/>
            <a:ext cx="2834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PR &amp; Influencer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d0a367c32c_9_57"/>
          <p:cNvSpPr/>
          <p:nvPr/>
        </p:nvSpPr>
        <p:spPr>
          <a:xfrm>
            <a:off x="7498080" y="3291840"/>
            <a:ext cx="1143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€ 8.0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d0a367c32c_9_57"/>
          <p:cNvSpPr/>
          <p:nvPr/>
        </p:nvSpPr>
        <p:spPr>
          <a:xfrm>
            <a:off x="4663440" y="3611880"/>
            <a:ext cx="4069080" cy="301752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d0a367c32c_9_57"/>
          <p:cNvSpPr/>
          <p:nvPr/>
        </p:nvSpPr>
        <p:spPr>
          <a:xfrm>
            <a:off x="4754880" y="3611880"/>
            <a:ext cx="2834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Legal &amp; contratti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d0a367c32c_9_57"/>
          <p:cNvSpPr/>
          <p:nvPr/>
        </p:nvSpPr>
        <p:spPr>
          <a:xfrm>
            <a:off x="7498080" y="3611880"/>
            <a:ext cx="11430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€ 2.0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d0a367c32c_9_57"/>
          <p:cNvSpPr/>
          <p:nvPr/>
        </p:nvSpPr>
        <p:spPr>
          <a:xfrm>
            <a:off x="4663440" y="4023360"/>
            <a:ext cx="4069080" cy="2743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d0a367c32c_9_57"/>
          <p:cNvSpPr/>
          <p:nvPr/>
        </p:nvSpPr>
        <p:spPr>
          <a:xfrm>
            <a:off x="4754880" y="40233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TOTALE AVVIAMENTO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d0a367c32c_9_57"/>
          <p:cNvSpPr/>
          <p:nvPr/>
        </p:nvSpPr>
        <p:spPr>
          <a:xfrm>
            <a:off x="7498080" y="402336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€ 57 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d0a367c32c_9_57"/>
          <p:cNvSpPr/>
          <p:nvPr/>
        </p:nvSpPr>
        <p:spPr>
          <a:xfrm>
            <a:off x="4663440" y="4526280"/>
            <a:ext cx="4069080" cy="27432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d0a367c32c_9_57"/>
          <p:cNvSpPr/>
          <p:nvPr/>
        </p:nvSpPr>
        <p:spPr>
          <a:xfrm>
            <a:off x="4754880" y="45262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BUDGET TOTALE PROGETTO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d0a367c32c_9_57"/>
          <p:cNvSpPr/>
          <p:nvPr/>
        </p:nvSpPr>
        <p:spPr>
          <a:xfrm>
            <a:off x="7315200" y="452628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€ 316 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0a367c32c_9_5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d0a367c32c_9_58"/>
          <p:cNvSpPr/>
          <p:nvPr/>
        </p:nvSpPr>
        <p:spPr>
          <a:xfrm>
            <a:off x="411480" y="164592"/>
            <a:ext cx="2286000" cy="20116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03 — BASELINE BCWS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d0a367c32c_9_58"/>
          <p:cNvSpPr/>
          <p:nvPr/>
        </p:nvSpPr>
        <p:spPr>
          <a:xfrm>
            <a:off x="411480" y="475488"/>
            <a:ext cx="8321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Baseline dei Costi — Curva a S — BCWS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d0a367c32c_9_58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d0a367c32c_9_58"/>
          <p:cNvSpPr/>
          <p:nvPr/>
        </p:nvSpPr>
        <p:spPr>
          <a:xfrm>
            <a:off x="411480" y="1325880"/>
            <a:ext cx="1051560" cy="256032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d0a367c32c_9_58"/>
          <p:cNvSpPr/>
          <p:nvPr/>
        </p:nvSpPr>
        <p:spPr>
          <a:xfrm>
            <a:off x="411480" y="13258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Settimana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d0a367c32c_9_58"/>
          <p:cNvSpPr/>
          <p:nvPr/>
        </p:nvSpPr>
        <p:spPr>
          <a:xfrm>
            <a:off x="1490472" y="1325880"/>
            <a:ext cx="1051560" cy="256032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d0a367c32c_9_58"/>
          <p:cNvSpPr/>
          <p:nvPr/>
        </p:nvSpPr>
        <p:spPr>
          <a:xfrm>
            <a:off x="1490472" y="13258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BCWS (€M)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d0a367c32c_9_58"/>
          <p:cNvSpPr/>
          <p:nvPr/>
        </p:nvSpPr>
        <p:spPr>
          <a:xfrm>
            <a:off x="2569464" y="1325880"/>
            <a:ext cx="1051560" cy="256032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d0a367c32c_9_58"/>
          <p:cNvSpPr/>
          <p:nvPr/>
        </p:nvSpPr>
        <p:spPr>
          <a:xfrm>
            <a:off x="2569464" y="13258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Cum. (€M)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d0a367c32c_9_58"/>
          <p:cNvSpPr/>
          <p:nvPr/>
        </p:nvSpPr>
        <p:spPr>
          <a:xfrm>
            <a:off x="411480" y="1627632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d0a367c32c_9_58"/>
          <p:cNvSpPr/>
          <p:nvPr/>
        </p:nvSpPr>
        <p:spPr>
          <a:xfrm>
            <a:off x="1490472" y="1627632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d0a367c32c_9_58"/>
          <p:cNvSpPr/>
          <p:nvPr/>
        </p:nvSpPr>
        <p:spPr>
          <a:xfrm>
            <a:off x="2569464" y="1627632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d0a367c32c_9_58"/>
          <p:cNvSpPr/>
          <p:nvPr/>
        </p:nvSpPr>
        <p:spPr>
          <a:xfrm>
            <a:off x="411480" y="1627632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Sett.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d0a367c32c_9_58"/>
          <p:cNvSpPr/>
          <p:nvPr/>
        </p:nvSpPr>
        <p:spPr>
          <a:xfrm>
            <a:off x="1490472" y="1627632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€ 12.6M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d0a367c32c_9_58"/>
          <p:cNvSpPr/>
          <p:nvPr/>
        </p:nvSpPr>
        <p:spPr>
          <a:xfrm>
            <a:off x="2569464" y="1627632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€ 12.6M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d0a367c32c_9_58"/>
          <p:cNvSpPr/>
          <p:nvPr/>
        </p:nvSpPr>
        <p:spPr>
          <a:xfrm>
            <a:off x="411480" y="1911096"/>
            <a:ext cx="1051560" cy="265176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d0a367c32c_9_58"/>
          <p:cNvSpPr/>
          <p:nvPr/>
        </p:nvSpPr>
        <p:spPr>
          <a:xfrm>
            <a:off x="1490472" y="1911096"/>
            <a:ext cx="1051560" cy="265176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d0a367c32c_9_58"/>
          <p:cNvSpPr/>
          <p:nvPr/>
        </p:nvSpPr>
        <p:spPr>
          <a:xfrm>
            <a:off x="2569464" y="1911096"/>
            <a:ext cx="1051560" cy="265176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d0a367c32c_9_58"/>
          <p:cNvSpPr/>
          <p:nvPr/>
        </p:nvSpPr>
        <p:spPr>
          <a:xfrm>
            <a:off x="411480" y="1911096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Sett.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d0a367c32c_9_58"/>
          <p:cNvSpPr/>
          <p:nvPr/>
        </p:nvSpPr>
        <p:spPr>
          <a:xfrm>
            <a:off x="1490472" y="1911096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€ 22.1M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d0a367c32c_9_58"/>
          <p:cNvSpPr/>
          <p:nvPr/>
        </p:nvSpPr>
        <p:spPr>
          <a:xfrm>
            <a:off x="2569464" y="1911096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€ 34.8M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d0a367c32c_9_58"/>
          <p:cNvSpPr/>
          <p:nvPr/>
        </p:nvSpPr>
        <p:spPr>
          <a:xfrm>
            <a:off x="411480" y="2194560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d0a367c32c_9_58"/>
          <p:cNvSpPr/>
          <p:nvPr/>
        </p:nvSpPr>
        <p:spPr>
          <a:xfrm>
            <a:off x="1490472" y="2194560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d0a367c32c_9_58"/>
          <p:cNvSpPr/>
          <p:nvPr/>
        </p:nvSpPr>
        <p:spPr>
          <a:xfrm>
            <a:off x="2569464" y="2194560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d0a367c32c_9_58"/>
          <p:cNvSpPr/>
          <p:nvPr/>
        </p:nvSpPr>
        <p:spPr>
          <a:xfrm>
            <a:off x="411480" y="2194560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Sett.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d0a367c32c_9_58"/>
          <p:cNvSpPr/>
          <p:nvPr/>
        </p:nvSpPr>
        <p:spPr>
          <a:xfrm>
            <a:off x="1490472" y="2194560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€ 31.6M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d0a367c32c_9_58"/>
          <p:cNvSpPr/>
          <p:nvPr/>
        </p:nvSpPr>
        <p:spPr>
          <a:xfrm>
            <a:off x="2569464" y="2194560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€ 66.4M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d0a367c32c_9_58"/>
          <p:cNvSpPr/>
          <p:nvPr/>
        </p:nvSpPr>
        <p:spPr>
          <a:xfrm>
            <a:off x="411480" y="2478024"/>
            <a:ext cx="1051560" cy="265176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d0a367c32c_9_58"/>
          <p:cNvSpPr/>
          <p:nvPr/>
        </p:nvSpPr>
        <p:spPr>
          <a:xfrm>
            <a:off x="1490472" y="2478024"/>
            <a:ext cx="1051560" cy="265176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d0a367c32c_9_58"/>
          <p:cNvSpPr/>
          <p:nvPr/>
        </p:nvSpPr>
        <p:spPr>
          <a:xfrm>
            <a:off x="2569464" y="2478024"/>
            <a:ext cx="1051560" cy="265176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d0a367c32c_9_58"/>
          <p:cNvSpPr/>
          <p:nvPr/>
        </p:nvSpPr>
        <p:spPr>
          <a:xfrm>
            <a:off x="411480" y="2478024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Sett.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d0a367c32c_9_58"/>
          <p:cNvSpPr/>
          <p:nvPr/>
        </p:nvSpPr>
        <p:spPr>
          <a:xfrm>
            <a:off x="1490472" y="2478024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€ 41.1M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d0a367c32c_9_58"/>
          <p:cNvSpPr/>
          <p:nvPr/>
        </p:nvSpPr>
        <p:spPr>
          <a:xfrm>
            <a:off x="2569464" y="2478024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€ 107.4M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d0a367c32c_9_58"/>
          <p:cNvSpPr/>
          <p:nvPr/>
        </p:nvSpPr>
        <p:spPr>
          <a:xfrm>
            <a:off x="411480" y="2761488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d0a367c32c_9_58"/>
          <p:cNvSpPr/>
          <p:nvPr/>
        </p:nvSpPr>
        <p:spPr>
          <a:xfrm>
            <a:off x="1490472" y="2761488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d0a367c32c_9_58"/>
          <p:cNvSpPr/>
          <p:nvPr/>
        </p:nvSpPr>
        <p:spPr>
          <a:xfrm>
            <a:off x="2569464" y="2761488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d0a367c32c_9_58"/>
          <p:cNvSpPr/>
          <p:nvPr/>
        </p:nvSpPr>
        <p:spPr>
          <a:xfrm>
            <a:off x="411480" y="2761488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Sett. 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d0a367c32c_9_58"/>
          <p:cNvSpPr/>
          <p:nvPr/>
        </p:nvSpPr>
        <p:spPr>
          <a:xfrm>
            <a:off x="1490472" y="2761488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€ 50.6M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d0a367c32c_9_58"/>
          <p:cNvSpPr/>
          <p:nvPr/>
        </p:nvSpPr>
        <p:spPr>
          <a:xfrm>
            <a:off x="2569464" y="2761488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€ 158.0M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d0a367c32c_9_58"/>
          <p:cNvSpPr/>
          <p:nvPr/>
        </p:nvSpPr>
        <p:spPr>
          <a:xfrm>
            <a:off x="411480" y="3044952"/>
            <a:ext cx="1051560" cy="265176"/>
          </a:xfrm>
          <a:prstGeom prst="rect">
            <a:avLst/>
          </a:prstGeom>
          <a:solidFill>
            <a:srgbClr val="2A2A00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d0a367c32c_9_58"/>
          <p:cNvSpPr/>
          <p:nvPr/>
        </p:nvSpPr>
        <p:spPr>
          <a:xfrm>
            <a:off x="1490472" y="3044952"/>
            <a:ext cx="1051560" cy="265176"/>
          </a:xfrm>
          <a:prstGeom prst="rect">
            <a:avLst/>
          </a:prstGeom>
          <a:solidFill>
            <a:srgbClr val="2A2A00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d0a367c32c_9_58"/>
          <p:cNvSpPr/>
          <p:nvPr/>
        </p:nvSpPr>
        <p:spPr>
          <a:xfrm>
            <a:off x="2569464" y="3044952"/>
            <a:ext cx="1051560" cy="265176"/>
          </a:xfrm>
          <a:prstGeom prst="rect">
            <a:avLst/>
          </a:prstGeom>
          <a:solidFill>
            <a:srgbClr val="2A2A00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d0a367c32c_9_58"/>
          <p:cNvSpPr/>
          <p:nvPr/>
        </p:nvSpPr>
        <p:spPr>
          <a:xfrm>
            <a:off x="411480" y="3044952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Sett.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d0a367c32c_9_58"/>
          <p:cNvSpPr/>
          <p:nvPr/>
        </p:nvSpPr>
        <p:spPr>
          <a:xfrm>
            <a:off x="1490472" y="3044952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€ 47.4M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d0a367c32c_9_58"/>
          <p:cNvSpPr/>
          <p:nvPr/>
        </p:nvSpPr>
        <p:spPr>
          <a:xfrm>
            <a:off x="2569464" y="3044952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€ 205.4M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d0a367c32c_9_58"/>
          <p:cNvSpPr/>
          <p:nvPr/>
        </p:nvSpPr>
        <p:spPr>
          <a:xfrm>
            <a:off x="411480" y="3328416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d0a367c32c_9_58"/>
          <p:cNvSpPr/>
          <p:nvPr/>
        </p:nvSpPr>
        <p:spPr>
          <a:xfrm>
            <a:off x="1490472" y="3328416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d0a367c32c_9_58"/>
          <p:cNvSpPr/>
          <p:nvPr/>
        </p:nvSpPr>
        <p:spPr>
          <a:xfrm>
            <a:off x="2569464" y="3328416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d0a367c32c_9_58"/>
          <p:cNvSpPr/>
          <p:nvPr/>
        </p:nvSpPr>
        <p:spPr>
          <a:xfrm>
            <a:off x="411480" y="3328416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Sett. 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d0a367c32c_9_58"/>
          <p:cNvSpPr/>
          <p:nvPr/>
        </p:nvSpPr>
        <p:spPr>
          <a:xfrm>
            <a:off x="1490472" y="3328416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€ 41.1M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d0a367c32c_9_58"/>
          <p:cNvSpPr/>
          <p:nvPr/>
        </p:nvSpPr>
        <p:spPr>
          <a:xfrm>
            <a:off x="2569464" y="3328416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€ 246.5M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d0a367c32c_9_58"/>
          <p:cNvSpPr/>
          <p:nvPr/>
        </p:nvSpPr>
        <p:spPr>
          <a:xfrm>
            <a:off x="411480" y="3611880"/>
            <a:ext cx="1051560" cy="265176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d0a367c32c_9_58"/>
          <p:cNvSpPr/>
          <p:nvPr/>
        </p:nvSpPr>
        <p:spPr>
          <a:xfrm>
            <a:off x="1490472" y="3611880"/>
            <a:ext cx="1051560" cy="265176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d0a367c32c_9_58"/>
          <p:cNvSpPr/>
          <p:nvPr/>
        </p:nvSpPr>
        <p:spPr>
          <a:xfrm>
            <a:off x="2569464" y="3611880"/>
            <a:ext cx="1051560" cy="265176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d0a367c32c_9_58"/>
          <p:cNvSpPr/>
          <p:nvPr/>
        </p:nvSpPr>
        <p:spPr>
          <a:xfrm>
            <a:off x="411480" y="3611880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Sett. 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d0a367c32c_9_58"/>
          <p:cNvSpPr/>
          <p:nvPr/>
        </p:nvSpPr>
        <p:spPr>
          <a:xfrm>
            <a:off x="1490472" y="3611880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€ 31.6M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d0a367c32c_9_58"/>
          <p:cNvSpPr/>
          <p:nvPr/>
        </p:nvSpPr>
        <p:spPr>
          <a:xfrm>
            <a:off x="2569464" y="3611880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€ 278.1M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d0a367c32c_9_58"/>
          <p:cNvSpPr/>
          <p:nvPr/>
        </p:nvSpPr>
        <p:spPr>
          <a:xfrm>
            <a:off x="411480" y="3895344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d0a367c32c_9_58"/>
          <p:cNvSpPr/>
          <p:nvPr/>
        </p:nvSpPr>
        <p:spPr>
          <a:xfrm>
            <a:off x="1490472" y="3895344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d0a367c32c_9_58"/>
          <p:cNvSpPr/>
          <p:nvPr/>
        </p:nvSpPr>
        <p:spPr>
          <a:xfrm>
            <a:off x="2569464" y="3895344"/>
            <a:ext cx="1051560" cy="265176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d0a367c32c_9_58"/>
          <p:cNvSpPr/>
          <p:nvPr/>
        </p:nvSpPr>
        <p:spPr>
          <a:xfrm>
            <a:off x="411480" y="3895344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Sett. 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d0a367c32c_9_58"/>
          <p:cNvSpPr/>
          <p:nvPr/>
        </p:nvSpPr>
        <p:spPr>
          <a:xfrm>
            <a:off x="1490472" y="3895344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€ 22.1M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d0a367c32c_9_58"/>
          <p:cNvSpPr/>
          <p:nvPr/>
        </p:nvSpPr>
        <p:spPr>
          <a:xfrm>
            <a:off x="2569464" y="3895344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€ 300.2M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d0a367c32c_9_58"/>
          <p:cNvSpPr/>
          <p:nvPr/>
        </p:nvSpPr>
        <p:spPr>
          <a:xfrm>
            <a:off x="411480" y="4178808"/>
            <a:ext cx="1051560" cy="265176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d0a367c32c_9_58"/>
          <p:cNvSpPr/>
          <p:nvPr/>
        </p:nvSpPr>
        <p:spPr>
          <a:xfrm>
            <a:off x="1490472" y="4178808"/>
            <a:ext cx="1051560" cy="265176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d0a367c32c_9_58"/>
          <p:cNvSpPr/>
          <p:nvPr/>
        </p:nvSpPr>
        <p:spPr>
          <a:xfrm>
            <a:off x="2569464" y="4178808"/>
            <a:ext cx="1051560" cy="265176"/>
          </a:xfrm>
          <a:prstGeom prst="rect">
            <a:avLst/>
          </a:prstGeom>
          <a:solidFill>
            <a:srgbClr val="222222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d0a367c32c_9_58"/>
          <p:cNvSpPr/>
          <p:nvPr/>
        </p:nvSpPr>
        <p:spPr>
          <a:xfrm>
            <a:off x="411480" y="4178808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Sett. 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d0a367c32c_9_58"/>
          <p:cNvSpPr/>
          <p:nvPr/>
        </p:nvSpPr>
        <p:spPr>
          <a:xfrm>
            <a:off x="1490472" y="4178808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€ 15.8M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d0a367c32c_9_58"/>
          <p:cNvSpPr/>
          <p:nvPr/>
        </p:nvSpPr>
        <p:spPr>
          <a:xfrm>
            <a:off x="2569464" y="4178808"/>
            <a:ext cx="10515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€ 316.0M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d0a367c32c_9_58"/>
          <p:cNvSpPr/>
          <p:nvPr/>
        </p:nvSpPr>
        <p:spPr>
          <a:xfrm>
            <a:off x="3749040" y="1280160"/>
            <a:ext cx="4983480" cy="347472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d0a367c32c_9_58"/>
          <p:cNvSpPr/>
          <p:nvPr/>
        </p:nvSpPr>
        <p:spPr>
          <a:xfrm>
            <a:off x="3748975" y="1252722"/>
            <a:ext cx="4983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PLANNED VALUE — Curva a S (€)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d0a367c32c_9_58"/>
          <p:cNvSpPr/>
          <p:nvPr/>
        </p:nvSpPr>
        <p:spPr>
          <a:xfrm>
            <a:off x="3794760" y="43434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g3d0a367c32c_9_58"/>
          <p:cNvCxnSpPr/>
          <p:nvPr/>
        </p:nvCxnSpPr>
        <p:spPr>
          <a:xfrm>
            <a:off x="4251960" y="4434840"/>
            <a:ext cx="438912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g3d0a367c32c_9_58"/>
          <p:cNvSpPr/>
          <p:nvPr/>
        </p:nvSpPr>
        <p:spPr>
          <a:xfrm>
            <a:off x="3794760" y="38557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50M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g3d0a367c32c_9_58"/>
          <p:cNvCxnSpPr/>
          <p:nvPr/>
        </p:nvCxnSpPr>
        <p:spPr>
          <a:xfrm>
            <a:off x="4251960" y="3947160"/>
            <a:ext cx="438912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g3d0a367c32c_9_58"/>
          <p:cNvSpPr/>
          <p:nvPr/>
        </p:nvSpPr>
        <p:spPr>
          <a:xfrm>
            <a:off x="3794760" y="336804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100M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g3d0a367c32c_9_58"/>
          <p:cNvCxnSpPr/>
          <p:nvPr/>
        </p:nvCxnSpPr>
        <p:spPr>
          <a:xfrm>
            <a:off x="4251960" y="3459480"/>
            <a:ext cx="438912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g3d0a367c32c_9_58"/>
          <p:cNvSpPr/>
          <p:nvPr/>
        </p:nvSpPr>
        <p:spPr>
          <a:xfrm>
            <a:off x="3794760" y="288036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150M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g3d0a367c32c_9_58"/>
          <p:cNvCxnSpPr/>
          <p:nvPr/>
        </p:nvCxnSpPr>
        <p:spPr>
          <a:xfrm>
            <a:off x="4251960" y="2971800"/>
            <a:ext cx="438912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g3d0a367c32c_9_58"/>
          <p:cNvSpPr/>
          <p:nvPr/>
        </p:nvSpPr>
        <p:spPr>
          <a:xfrm>
            <a:off x="3794760" y="23926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200M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g3d0a367c32c_9_58"/>
          <p:cNvCxnSpPr/>
          <p:nvPr/>
        </p:nvCxnSpPr>
        <p:spPr>
          <a:xfrm>
            <a:off x="4251960" y="2484120"/>
            <a:ext cx="438912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g3d0a367c32c_9_58"/>
          <p:cNvSpPr/>
          <p:nvPr/>
        </p:nvSpPr>
        <p:spPr>
          <a:xfrm>
            <a:off x="3794760" y="190500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250M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g3d0a367c32c_9_58"/>
          <p:cNvCxnSpPr/>
          <p:nvPr/>
        </p:nvCxnSpPr>
        <p:spPr>
          <a:xfrm>
            <a:off x="4251960" y="1996440"/>
            <a:ext cx="438912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g3d0a367c32c_9_58"/>
          <p:cNvSpPr/>
          <p:nvPr/>
        </p:nvSpPr>
        <p:spPr>
          <a:xfrm>
            <a:off x="3794760" y="141732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316M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g3d0a367c32c_9_58"/>
          <p:cNvCxnSpPr/>
          <p:nvPr/>
        </p:nvCxnSpPr>
        <p:spPr>
          <a:xfrm>
            <a:off x="4251960" y="1508760"/>
            <a:ext cx="4389120" cy="0"/>
          </a:xfrm>
          <a:prstGeom prst="straightConnector1">
            <a:avLst/>
          </a:prstGeom>
          <a:noFill/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g3d0a367c32c_9_58"/>
          <p:cNvCxnSpPr/>
          <p:nvPr/>
        </p:nvCxnSpPr>
        <p:spPr>
          <a:xfrm rot="-1360480">
            <a:off x="4279392" y="4292194"/>
            <a:ext cx="523025" cy="0"/>
          </a:xfrm>
          <a:prstGeom prst="straightConnector1">
            <a:avLst/>
          </a:prstGeom>
          <a:noFill/>
          <a:ln cap="flat" cmpd="sng" w="3175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g3d0a367c32c_9_58"/>
          <p:cNvCxnSpPr/>
          <p:nvPr/>
        </p:nvCxnSpPr>
        <p:spPr>
          <a:xfrm rot="-1849832">
            <a:off x="4761992" y="4090568"/>
            <a:ext cx="562021" cy="0"/>
          </a:xfrm>
          <a:prstGeom prst="straightConnector1">
            <a:avLst/>
          </a:prstGeom>
          <a:noFill/>
          <a:ln cap="flat" cmpd="sng" w="3175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g3d0a367c32c_9_58"/>
          <p:cNvCxnSpPr/>
          <p:nvPr/>
        </p:nvCxnSpPr>
        <p:spPr>
          <a:xfrm rot="-2268462">
            <a:off x="5244592" y="3802532"/>
            <a:ext cx="610830" cy="0"/>
          </a:xfrm>
          <a:prstGeom prst="straightConnector1">
            <a:avLst/>
          </a:prstGeom>
          <a:noFill/>
          <a:ln cap="flat" cmpd="sng" w="3175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g3d0a367c32c_9_58"/>
          <p:cNvCxnSpPr/>
          <p:nvPr/>
        </p:nvCxnSpPr>
        <p:spPr>
          <a:xfrm rot="-2620790">
            <a:off x="5727192" y="3428086"/>
            <a:ext cx="667302" cy="0"/>
          </a:xfrm>
          <a:prstGeom prst="straightConnector1">
            <a:avLst/>
          </a:prstGeom>
          <a:noFill/>
          <a:ln cap="flat" cmpd="sng" w="3175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g3d0a367c32c_9_58"/>
          <p:cNvCxnSpPr/>
          <p:nvPr/>
        </p:nvCxnSpPr>
        <p:spPr>
          <a:xfrm rot="-2510215">
            <a:off x="6209792" y="2967228"/>
            <a:ext cx="647745" cy="0"/>
          </a:xfrm>
          <a:prstGeom prst="straightConnector1">
            <a:avLst/>
          </a:prstGeom>
          <a:noFill/>
          <a:ln cap="flat" cmpd="sng" w="3175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g3d0a367c32c_9_58"/>
          <p:cNvCxnSpPr/>
          <p:nvPr/>
        </p:nvCxnSpPr>
        <p:spPr>
          <a:xfrm rot="-2268462">
            <a:off x="6692392" y="2535174"/>
            <a:ext cx="610830" cy="0"/>
          </a:xfrm>
          <a:prstGeom prst="straightConnector1">
            <a:avLst/>
          </a:prstGeom>
          <a:noFill/>
          <a:ln cap="flat" cmpd="sng" w="3175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g3d0a367c32c_9_58"/>
          <p:cNvCxnSpPr/>
          <p:nvPr/>
        </p:nvCxnSpPr>
        <p:spPr>
          <a:xfrm rot="-1849832">
            <a:off x="7174992" y="2160727"/>
            <a:ext cx="562021" cy="0"/>
          </a:xfrm>
          <a:prstGeom prst="straightConnector1">
            <a:avLst/>
          </a:prstGeom>
          <a:noFill/>
          <a:ln cap="flat" cmpd="sng" w="3175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g3d0a367c32c_9_58"/>
          <p:cNvCxnSpPr/>
          <p:nvPr/>
        </p:nvCxnSpPr>
        <p:spPr>
          <a:xfrm rot="-1360480">
            <a:off x="7657592" y="1872691"/>
            <a:ext cx="523025" cy="0"/>
          </a:xfrm>
          <a:prstGeom prst="straightConnector1">
            <a:avLst/>
          </a:prstGeom>
          <a:noFill/>
          <a:ln cap="flat" cmpd="sng" w="3175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g3d0a367c32c_9_58"/>
          <p:cNvCxnSpPr/>
          <p:nvPr/>
        </p:nvCxnSpPr>
        <p:spPr>
          <a:xfrm rot="-996660">
            <a:off x="8140197" y="1671075"/>
            <a:ext cx="503721" cy="0"/>
          </a:xfrm>
          <a:prstGeom prst="straightConnector1">
            <a:avLst/>
          </a:prstGeom>
          <a:noFill/>
          <a:ln cap="flat" cmpd="sng" w="3175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g3d0a367c32c_9_58"/>
          <p:cNvSpPr/>
          <p:nvPr/>
        </p:nvSpPr>
        <p:spPr>
          <a:xfrm>
            <a:off x="4224491" y="4312468"/>
            <a:ext cx="109800" cy="1098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d0a367c32c_9_58"/>
          <p:cNvSpPr/>
          <p:nvPr/>
        </p:nvSpPr>
        <p:spPr>
          <a:xfrm>
            <a:off x="4187952" y="4356202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d0a367c32c_9_58"/>
          <p:cNvSpPr/>
          <p:nvPr/>
        </p:nvSpPr>
        <p:spPr>
          <a:xfrm>
            <a:off x="4727453" y="4136104"/>
            <a:ext cx="109800" cy="1098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d0a367c32c_9_58"/>
          <p:cNvSpPr/>
          <p:nvPr/>
        </p:nvSpPr>
        <p:spPr>
          <a:xfrm>
            <a:off x="4670552" y="4154576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d0a367c32c_9_58"/>
          <p:cNvSpPr/>
          <p:nvPr/>
        </p:nvSpPr>
        <p:spPr>
          <a:xfrm>
            <a:off x="5226228" y="3924256"/>
            <a:ext cx="109800" cy="1098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d0a367c32c_9_58"/>
          <p:cNvSpPr/>
          <p:nvPr/>
        </p:nvSpPr>
        <p:spPr>
          <a:xfrm>
            <a:off x="5153152" y="3866540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d0a367c32c_9_58"/>
          <p:cNvSpPr/>
          <p:nvPr/>
        </p:nvSpPr>
        <p:spPr>
          <a:xfrm>
            <a:off x="5751053" y="3593597"/>
            <a:ext cx="109800" cy="1098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d0a367c32c_9_58"/>
          <p:cNvSpPr/>
          <p:nvPr/>
        </p:nvSpPr>
        <p:spPr>
          <a:xfrm>
            <a:off x="5635752" y="3492094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d0a367c32c_9_58"/>
          <p:cNvSpPr/>
          <p:nvPr/>
        </p:nvSpPr>
        <p:spPr>
          <a:xfrm>
            <a:off x="6253328" y="3122627"/>
            <a:ext cx="109800" cy="1098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d0a367c32c_9_58"/>
          <p:cNvSpPr/>
          <p:nvPr/>
        </p:nvSpPr>
        <p:spPr>
          <a:xfrm>
            <a:off x="6118352" y="3031236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d0a367c32c_9_58"/>
          <p:cNvSpPr/>
          <p:nvPr/>
        </p:nvSpPr>
        <p:spPr>
          <a:xfrm>
            <a:off x="6739853" y="2673098"/>
            <a:ext cx="109800" cy="109800"/>
          </a:xfrm>
          <a:prstGeom prst="ellipse">
            <a:avLst/>
          </a:prstGeom>
          <a:solidFill>
            <a:srgbClr val="FF3333"/>
          </a:solidFill>
          <a:ln cap="flat" cmpd="sng" w="12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d0a367c32c_9_58"/>
          <p:cNvSpPr/>
          <p:nvPr/>
        </p:nvSpPr>
        <p:spPr>
          <a:xfrm>
            <a:off x="6600952" y="2599182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S6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d0a367c32c_9_58"/>
          <p:cNvSpPr/>
          <p:nvPr/>
        </p:nvSpPr>
        <p:spPr>
          <a:xfrm>
            <a:off x="7156628" y="2287476"/>
            <a:ext cx="109800" cy="1098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d0a367c32c_9_58"/>
          <p:cNvSpPr/>
          <p:nvPr/>
        </p:nvSpPr>
        <p:spPr>
          <a:xfrm>
            <a:off x="7083552" y="2224735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S7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d0a367c32c_9_58"/>
          <p:cNvSpPr/>
          <p:nvPr/>
        </p:nvSpPr>
        <p:spPr>
          <a:xfrm>
            <a:off x="7639228" y="1941540"/>
            <a:ext cx="109800" cy="1098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d0a367c32c_9_58"/>
          <p:cNvSpPr/>
          <p:nvPr/>
        </p:nvSpPr>
        <p:spPr>
          <a:xfrm>
            <a:off x="7566152" y="1936699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S8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d0a367c32c_9_58"/>
          <p:cNvSpPr/>
          <p:nvPr/>
        </p:nvSpPr>
        <p:spPr>
          <a:xfrm>
            <a:off x="8085291" y="1713690"/>
            <a:ext cx="109800" cy="1098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d0a367c32c_9_58"/>
          <p:cNvSpPr/>
          <p:nvPr/>
        </p:nvSpPr>
        <p:spPr>
          <a:xfrm>
            <a:off x="8048752" y="1735074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S9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d0a367c32c_9_58"/>
          <p:cNvSpPr/>
          <p:nvPr/>
        </p:nvSpPr>
        <p:spPr>
          <a:xfrm>
            <a:off x="8567891" y="1540734"/>
            <a:ext cx="109800" cy="1098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d0a367c32c_9_58"/>
          <p:cNvSpPr/>
          <p:nvPr/>
        </p:nvSpPr>
        <p:spPr>
          <a:xfrm>
            <a:off x="8531352" y="1591056"/>
            <a:ext cx="182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S10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g3d0a367c32c_9_58"/>
          <p:cNvCxnSpPr/>
          <p:nvPr/>
        </p:nvCxnSpPr>
        <p:spPr>
          <a:xfrm>
            <a:off x="6771117" y="1691645"/>
            <a:ext cx="0" cy="2971800"/>
          </a:xfrm>
          <a:prstGeom prst="straightConnector1">
            <a:avLst/>
          </a:prstGeom>
          <a:noFill/>
          <a:ln cap="flat" cmpd="sng" w="19050">
            <a:solidFill>
              <a:srgbClr val="FF333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10" name="Google Shape;310;g3d0a367c32c_9_58"/>
          <p:cNvSpPr/>
          <p:nvPr/>
        </p:nvSpPr>
        <p:spPr>
          <a:xfrm>
            <a:off x="6646672" y="162763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⚑ S6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d0a367c32c_9_58"/>
          <p:cNvSpPr/>
          <p:nvPr/>
        </p:nvSpPr>
        <p:spPr>
          <a:xfrm>
            <a:off x="4187952" y="44988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d0a367c32c_9_58"/>
          <p:cNvSpPr/>
          <p:nvPr/>
        </p:nvSpPr>
        <p:spPr>
          <a:xfrm>
            <a:off x="4670552" y="44988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d0a367c32c_9_58"/>
          <p:cNvSpPr/>
          <p:nvPr/>
        </p:nvSpPr>
        <p:spPr>
          <a:xfrm>
            <a:off x="5153152" y="44988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d0a367c32c_9_58"/>
          <p:cNvSpPr/>
          <p:nvPr/>
        </p:nvSpPr>
        <p:spPr>
          <a:xfrm>
            <a:off x="5635752" y="44988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d0a367c32c_9_58"/>
          <p:cNvSpPr/>
          <p:nvPr/>
        </p:nvSpPr>
        <p:spPr>
          <a:xfrm>
            <a:off x="6118352" y="44988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S5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d0a367c32c_9_58"/>
          <p:cNvSpPr/>
          <p:nvPr/>
        </p:nvSpPr>
        <p:spPr>
          <a:xfrm>
            <a:off x="6600952" y="44988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S6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d0a367c32c_9_58"/>
          <p:cNvSpPr/>
          <p:nvPr/>
        </p:nvSpPr>
        <p:spPr>
          <a:xfrm>
            <a:off x="7083552" y="44988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S7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d0a367c32c_9_58"/>
          <p:cNvSpPr/>
          <p:nvPr/>
        </p:nvSpPr>
        <p:spPr>
          <a:xfrm>
            <a:off x="7566152" y="44988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d0a367c32c_9_58"/>
          <p:cNvSpPr/>
          <p:nvPr/>
        </p:nvSpPr>
        <p:spPr>
          <a:xfrm>
            <a:off x="8048752" y="44988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S9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d0a367c32c_9_58"/>
          <p:cNvSpPr/>
          <p:nvPr/>
        </p:nvSpPr>
        <p:spPr>
          <a:xfrm>
            <a:off x="8531352" y="44988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S10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d0a367c32c_9_58"/>
          <p:cNvSpPr/>
          <p:nvPr/>
        </p:nvSpPr>
        <p:spPr>
          <a:xfrm>
            <a:off x="411480" y="4787580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I costi seguono una curva a S: bassi nelle fasi iniziali (setup), crescenti nel core dello sviluppo (S4-S6), decrescenti verso la fine (polish &amp; lancio).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0a367c32c_9_5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d0a367c32c_9_59"/>
          <p:cNvSpPr/>
          <p:nvPr/>
        </p:nvSpPr>
        <p:spPr>
          <a:xfrm>
            <a:off x="411475" y="164600"/>
            <a:ext cx="2901000" cy="2013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04 — PERIOD BREAKDOWN OF PROGRESS ANALYSIS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d0a367c32c_9_59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BCWS · BCWP · ACWP — Sett. 1–6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d0a367c32c_9_59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d0a367c32c_9_59"/>
          <p:cNvSpPr/>
          <p:nvPr/>
        </p:nvSpPr>
        <p:spPr>
          <a:xfrm>
            <a:off x="411480" y="1325880"/>
            <a:ext cx="1600200" cy="9144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d0a367c32c_9_59"/>
          <p:cNvSpPr/>
          <p:nvPr/>
        </p:nvSpPr>
        <p:spPr>
          <a:xfrm>
            <a:off x="411480" y="1325880"/>
            <a:ext cx="1600200" cy="45720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d0a367c32c_9_59"/>
          <p:cNvSpPr/>
          <p:nvPr/>
        </p:nvSpPr>
        <p:spPr>
          <a:xfrm>
            <a:off x="411480" y="1399032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€ 205.4M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d0a367c32c_9_59"/>
          <p:cNvSpPr/>
          <p:nvPr/>
        </p:nvSpPr>
        <p:spPr>
          <a:xfrm>
            <a:off x="411480" y="1920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BCWS @ S6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d0a367c32c_9_59"/>
          <p:cNvSpPr/>
          <p:nvPr/>
        </p:nvSpPr>
        <p:spPr>
          <a:xfrm>
            <a:off x="2084832" y="1325880"/>
            <a:ext cx="1600200" cy="9144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d0a367c32c_9_59"/>
          <p:cNvSpPr/>
          <p:nvPr/>
        </p:nvSpPr>
        <p:spPr>
          <a:xfrm>
            <a:off x="2084832" y="1325880"/>
            <a:ext cx="1600200" cy="45720"/>
          </a:xfrm>
          <a:prstGeom prst="rect">
            <a:avLst/>
          </a:prstGeom>
          <a:solidFill>
            <a:srgbClr val="00CCFF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d0a367c32c_9_59"/>
          <p:cNvSpPr/>
          <p:nvPr/>
        </p:nvSpPr>
        <p:spPr>
          <a:xfrm>
            <a:off x="2084832" y="1399032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€ 172.5M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d0a367c32c_9_59"/>
          <p:cNvSpPr/>
          <p:nvPr/>
        </p:nvSpPr>
        <p:spPr>
          <a:xfrm>
            <a:off x="2084832" y="1920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BCWP @ S6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d0a367c32c_9_59"/>
          <p:cNvSpPr/>
          <p:nvPr/>
        </p:nvSpPr>
        <p:spPr>
          <a:xfrm>
            <a:off x="3758184" y="1325880"/>
            <a:ext cx="1600200" cy="9144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d0a367c32c_9_59"/>
          <p:cNvSpPr/>
          <p:nvPr/>
        </p:nvSpPr>
        <p:spPr>
          <a:xfrm>
            <a:off x="3758184" y="1325880"/>
            <a:ext cx="1600200" cy="4572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d0a367c32c_9_59"/>
          <p:cNvSpPr/>
          <p:nvPr/>
        </p:nvSpPr>
        <p:spPr>
          <a:xfrm>
            <a:off x="3758184" y="1399032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€ 191.5M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d0a367c32c_9_59"/>
          <p:cNvSpPr/>
          <p:nvPr/>
        </p:nvSpPr>
        <p:spPr>
          <a:xfrm>
            <a:off x="3758184" y="1920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ACWP @ S6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d0a367c32c_9_59"/>
          <p:cNvSpPr/>
          <p:nvPr/>
        </p:nvSpPr>
        <p:spPr>
          <a:xfrm>
            <a:off x="5431536" y="1325880"/>
            <a:ext cx="1600200" cy="9144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d0a367c32c_9_59"/>
          <p:cNvSpPr/>
          <p:nvPr/>
        </p:nvSpPr>
        <p:spPr>
          <a:xfrm>
            <a:off x="5431536" y="1325880"/>
            <a:ext cx="1600200" cy="45720"/>
          </a:xfrm>
          <a:prstGeom prst="rect">
            <a:avLst/>
          </a:prstGeom>
          <a:solidFill>
            <a:srgbClr val="FF3333"/>
          </a:solidFill>
          <a:ln cap="flat" cmpd="sng" w="12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d0a367c32c_9_59"/>
          <p:cNvSpPr/>
          <p:nvPr/>
        </p:nvSpPr>
        <p:spPr>
          <a:xfrm>
            <a:off x="5431536" y="1399032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0.840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d0a367c32c_9_59"/>
          <p:cNvSpPr/>
          <p:nvPr/>
        </p:nvSpPr>
        <p:spPr>
          <a:xfrm>
            <a:off x="5431536" y="1920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d0a367c32c_9_59"/>
          <p:cNvSpPr/>
          <p:nvPr/>
        </p:nvSpPr>
        <p:spPr>
          <a:xfrm>
            <a:off x="7104888" y="1325880"/>
            <a:ext cx="1600200" cy="91440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d0a367c32c_9_59"/>
          <p:cNvSpPr/>
          <p:nvPr/>
        </p:nvSpPr>
        <p:spPr>
          <a:xfrm>
            <a:off x="7104888" y="1325880"/>
            <a:ext cx="1600200" cy="45720"/>
          </a:xfrm>
          <a:prstGeom prst="rect">
            <a:avLst/>
          </a:prstGeom>
          <a:solidFill>
            <a:srgbClr val="FF3333"/>
          </a:solidFill>
          <a:ln cap="flat" cmpd="sng" w="12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d0a367c32c_9_59"/>
          <p:cNvSpPr/>
          <p:nvPr/>
        </p:nvSpPr>
        <p:spPr>
          <a:xfrm>
            <a:off x="7104888" y="1399032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0.901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d0a367c32c_9_59"/>
          <p:cNvSpPr/>
          <p:nvPr/>
        </p:nvSpPr>
        <p:spPr>
          <a:xfrm>
            <a:off x="7104888" y="1920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CPI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d0a367c32c_9_59"/>
          <p:cNvSpPr/>
          <p:nvPr/>
        </p:nvSpPr>
        <p:spPr>
          <a:xfrm>
            <a:off x="411480" y="2377440"/>
            <a:ext cx="8321100" cy="237750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d0a367c32c_9_59"/>
          <p:cNvSpPr/>
          <p:nvPr/>
        </p:nvSpPr>
        <p:spPr>
          <a:xfrm>
            <a:off x="411480" y="242316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Costi Cumulati (€)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g3d0a367c32c_9_59"/>
          <p:cNvCxnSpPr/>
          <p:nvPr/>
        </p:nvCxnSpPr>
        <p:spPr>
          <a:xfrm>
            <a:off x="1005840" y="4480560"/>
            <a:ext cx="7543800" cy="0"/>
          </a:xfrm>
          <a:prstGeom prst="straightConnector1">
            <a:avLst/>
          </a:prstGeom>
          <a:noFill/>
          <a:ln cap="flat" cmpd="sng" w="9525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g3d0a367c32c_9_59"/>
          <p:cNvSpPr/>
          <p:nvPr/>
        </p:nvSpPr>
        <p:spPr>
          <a:xfrm>
            <a:off x="429768" y="4389120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€0M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g3d0a367c32c_9_59"/>
          <p:cNvCxnSpPr/>
          <p:nvPr/>
        </p:nvCxnSpPr>
        <p:spPr>
          <a:xfrm>
            <a:off x="1005840" y="4011930"/>
            <a:ext cx="7543800" cy="0"/>
          </a:xfrm>
          <a:prstGeom prst="straightConnector1">
            <a:avLst/>
          </a:prstGeom>
          <a:noFill/>
          <a:ln cap="flat" cmpd="sng" w="9525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g3d0a367c32c_9_59"/>
          <p:cNvSpPr/>
          <p:nvPr/>
        </p:nvSpPr>
        <p:spPr>
          <a:xfrm>
            <a:off x="429768" y="392049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€50M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g3d0a367c32c_9_59"/>
          <p:cNvCxnSpPr/>
          <p:nvPr/>
        </p:nvCxnSpPr>
        <p:spPr>
          <a:xfrm>
            <a:off x="1005840" y="3543300"/>
            <a:ext cx="7543800" cy="0"/>
          </a:xfrm>
          <a:prstGeom prst="straightConnector1">
            <a:avLst/>
          </a:prstGeom>
          <a:noFill/>
          <a:ln cap="flat" cmpd="sng" w="9525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g3d0a367c32c_9_59"/>
          <p:cNvSpPr/>
          <p:nvPr/>
        </p:nvSpPr>
        <p:spPr>
          <a:xfrm>
            <a:off x="429768" y="345186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€101M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g3d0a367c32c_9_59"/>
          <p:cNvCxnSpPr/>
          <p:nvPr/>
        </p:nvCxnSpPr>
        <p:spPr>
          <a:xfrm>
            <a:off x="1005840" y="3074670"/>
            <a:ext cx="7543800" cy="0"/>
          </a:xfrm>
          <a:prstGeom prst="straightConnector1">
            <a:avLst/>
          </a:prstGeom>
          <a:noFill/>
          <a:ln cap="flat" cmpd="sng" w="9525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g3d0a367c32c_9_59"/>
          <p:cNvSpPr/>
          <p:nvPr/>
        </p:nvSpPr>
        <p:spPr>
          <a:xfrm>
            <a:off x="429768" y="298323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€151M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g3d0a367c32c_9_59"/>
          <p:cNvCxnSpPr/>
          <p:nvPr/>
        </p:nvCxnSpPr>
        <p:spPr>
          <a:xfrm>
            <a:off x="1005840" y="2606040"/>
            <a:ext cx="7543800" cy="0"/>
          </a:xfrm>
          <a:prstGeom prst="straightConnector1">
            <a:avLst/>
          </a:prstGeom>
          <a:noFill/>
          <a:ln cap="flat" cmpd="sng" w="9525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g3d0a367c32c_9_59"/>
          <p:cNvSpPr/>
          <p:nvPr/>
        </p:nvSpPr>
        <p:spPr>
          <a:xfrm>
            <a:off x="429768" y="251460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€201M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g3d0a367c32c_9_59"/>
          <p:cNvCxnSpPr/>
          <p:nvPr/>
        </p:nvCxnSpPr>
        <p:spPr>
          <a:xfrm rot="-466933">
            <a:off x="1005840" y="4362733"/>
            <a:ext cx="1522785" cy="0"/>
          </a:xfrm>
          <a:prstGeom prst="straightConnector1">
            <a:avLst/>
          </a:prstGeom>
          <a:noFill/>
          <a:ln cap="flat" cmpd="sng" w="254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g3d0a367c32c_9_59"/>
          <p:cNvCxnSpPr/>
          <p:nvPr/>
        </p:nvCxnSpPr>
        <p:spPr>
          <a:xfrm rot="-662842">
            <a:off x="2514600" y="4156536"/>
            <a:ext cx="1537247" cy="0"/>
          </a:xfrm>
          <a:prstGeom prst="straightConnector1">
            <a:avLst/>
          </a:prstGeom>
          <a:noFill/>
          <a:ln cap="flat" cmpd="sng" w="254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g3d0a367c32c_9_59"/>
          <p:cNvCxnSpPr/>
          <p:nvPr/>
        </p:nvCxnSpPr>
        <p:spPr>
          <a:xfrm rot="-854490">
            <a:off x="4023360" y="3861968"/>
            <a:ext cx="1556598" cy="0"/>
          </a:xfrm>
          <a:prstGeom prst="straightConnector1">
            <a:avLst/>
          </a:prstGeom>
          <a:noFill/>
          <a:ln cap="flat" cmpd="sng" w="254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g3d0a367c32c_9_59"/>
          <p:cNvCxnSpPr/>
          <p:nvPr/>
        </p:nvCxnSpPr>
        <p:spPr>
          <a:xfrm rot="-1040870">
            <a:off x="5532120" y="3479030"/>
            <a:ext cx="1580661" cy="0"/>
          </a:xfrm>
          <a:prstGeom prst="straightConnector1">
            <a:avLst/>
          </a:prstGeom>
          <a:noFill/>
          <a:ln cap="flat" cmpd="sng" w="254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g3d0a367c32c_9_59"/>
          <p:cNvCxnSpPr/>
          <p:nvPr/>
        </p:nvCxnSpPr>
        <p:spPr>
          <a:xfrm rot="-979384">
            <a:off x="7040880" y="3007721"/>
            <a:ext cx="1572129" cy="0"/>
          </a:xfrm>
          <a:prstGeom prst="straightConnector1">
            <a:avLst/>
          </a:prstGeom>
          <a:noFill/>
          <a:ln cap="flat" cmpd="sng" w="254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g3d0a367c32c_9_59"/>
          <p:cNvSpPr/>
          <p:nvPr/>
        </p:nvSpPr>
        <p:spPr>
          <a:xfrm>
            <a:off x="960070" y="4412513"/>
            <a:ext cx="91500" cy="915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d0a367c32c_9_59"/>
          <p:cNvSpPr/>
          <p:nvPr/>
        </p:nvSpPr>
        <p:spPr>
          <a:xfrm>
            <a:off x="2468880" y="4230491"/>
            <a:ext cx="91500" cy="915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d0a367c32c_9_59"/>
          <p:cNvSpPr/>
          <p:nvPr/>
        </p:nvSpPr>
        <p:spPr>
          <a:xfrm>
            <a:off x="3998515" y="3966173"/>
            <a:ext cx="91500" cy="915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d0a367c32c_9_59"/>
          <p:cNvSpPr/>
          <p:nvPr/>
        </p:nvSpPr>
        <p:spPr>
          <a:xfrm>
            <a:off x="5515675" y="3652635"/>
            <a:ext cx="91500" cy="915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d0a367c32c_9_59"/>
          <p:cNvSpPr/>
          <p:nvPr/>
        </p:nvSpPr>
        <p:spPr>
          <a:xfrm>
            <a:off x="7031785" y="3181464"/>
            <a:ext cx="91500" cy="915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d0a367c32c_9_59"/>
          <p:cNvSpPr/>
          <p:nvPr/>
        </p:nvSpPr>
        <p:spPr>
          <a:xfrm>
            <a:off x="8516483" y="2732613"/>
            <a:ext cx="91500" cy="91500"/>
          </a:xfrm>
          <a:prstGeom prst="ellipse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d0a367c32c_9_59"/>
          <p:cNvSpPr/>
          <p:nvPr/>
        </p:nvSpPr>
        <p:spPr>
          <a:xfrm>
            <a:off x="8630985" y="2686868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BCWS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g3d0a367c32c_9_59"/>
          <p:cNvCxnSpPr/>
          <p:nvPr/>
        </p:nvCxnSpPr>
        <p:spPr>
          <a:xfrm rot="-406177">
            <a:off x="1005840" y="4374516"/>
            <a:ext cx="1519353" cy="0"/>
          </a:xfrm>
          <a:prstGeom prst="straightConnector1">
            <a:avLst/>
          </a:prstGeom>
          <a:noFill/>
          <a:ln cap="flat" cmpd="sng" w="254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g3d0a367c32c_9_59"/>
          <p:cNvCxnSpPr/>
          <p:nvPr/>
        </p:nvCxnSpPr>
        <p:spPr>
          <a:xfrm rot="-571227">
            <a:off x="2514600" y="4195418"/>
            <a:ext cx="1529831" cy="0"/>
          </a:xfrm>
          <a:prstGeom prst="straightConnector1">
            <a:avLst/>
          </a:prstGeom>
          <a:noFill/>
          <a:ln cap="flat" cmpd="sng" w="254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g3d0a367c32c_9_59"/>
          <p:cNvCxnSpPr/>
          <p:nvPr/>
        </p:nvCxnSpPr>
        <p:spPr>
          <a:xfrm rot="-725326">
            <a:off x="4023360" y="3942385"/>
            <a:ext cx="1542977" cy="0"/>
          </a:xfrm>
          <a:prstGeom prst="straightConnector1">
            <a:avLst/>
          </a:prstGeom>
          <a:noFill/>
          <a:ln cap="flat" cmpd="sng" w="254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g3d0a367c32c_9_59"/>
          <p:cNvCxnSpPr/>
          <p:nvPr/>
        </p:nvCxnSpPr>
        <p:spPr>
          <a:xfrm rot="-870865">
            <a:off x="5532120" y="3619244"/>
            <a:ext cx="1558500" cy="0"/>
          </a:xfrm>
          <a:prstGeom prst="straightConnector1">
            <a:avLst/>
          </a:prstGeom>
          <a:noFill/>
          <a:ln cap="flat" cmpd="sng" w="254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g3d0a367c32c_9_59"/>
          <p:cNvCxnSpPr/>
          <p:nvPr/>
        </p:nvCxnSpPr>
        <p:spPr>
          <a:xfrm rot="-797506">
            <a:off x="7040880" y="3228647"/>
            <a:ext cx="1550289" cy="0"/>
          </a:xfrm>
          <a:prstGeom prst="straightConnector1">
            <a:avLst/>
          </a:prstGeom>
          <a:noFill/>
          <a:ln cap="flat" cmpd="sng" w="254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g3d0a367c32c_9_59"/>
          <p:cNvSpPr/>
          <p:nvPr/>
        </p:nvSpPr>
        <p:spPr>
          <a:xfrm>
            <a:off x="960083" y="4412521"/>
            <a:ext cx="91500" cy="91500"/>
          </a:xfrm>
          <a:prstGeom prst="ellipse">
            <a:avLst/>
          </a:prstGeom>
          <a:solidFill>
            <a:srgbClr val="00CCFF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d0a367c32c_9_59"/>
          <p:cNvSpPr/>
          <p:nvPr/>
        </p:nvSpPr>
        <p:spPr>
          <a:xfrm>
            <a:off x="2468855" y="4259623"/>
            <a:ext cx="91500" cy="91500"/>
          </a:xfrm>
          <a:prstGeom prst="ellipse">
            <a:avLst/>
          </a:prstGeom>
          <a:solidFill>
            <a:srgbClr val="00CCFF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d0a367c32c_9_59"/>
          <p:cNvSpPr/>
          <p:nvPr/>
        </p:nvSpPr>
        <p:spPr>
          <a:xfrm>
            <a:off x="3988090" y="4053415"/>
            <a:ext cx="91500" cy="91500"/>
          </a:xfrm>
          <a:prstGeom prst="ellipse">
            <a:avLst/>
          </a:prstGeom>
          <a:solidFill>
            <a:srgbClr val="00CCFF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d0a367c32c_9_59"/>
          <p:cNvSpPr/>
          <p:nvPr/>
        </p:nvSpPr>
        <p:spPr>
          <a:xfrm>
            <a:off x="5515625" y="3769874"/>
            <a:ext cx="91500" cy="91500"/>
          </a:xfrm>
          <a:prstGeom prst="ellipse">
            <a:avLst/>
          </a:prstGeom>
          <a:solidFill>
            <a:srgbClr val="00CCFF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d0a367c32c_9_59"/>
          <p:cNvSpPr/>
          <p:nvPr/>
        </p:nvSpPr>
        <p:spPr>
          <a:xfrm>
            <a:off x="7031735" y="3379689"/>
            <a:ext cx="91500" cy="91500"/>
          </a:xfrm>
          <a:prstGeom prst="ellipse">
            <a:avLst/>
          </a:prstGeom>
          <a:solidFill>
            <a:srgbClr val="00CCFF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d0a367c32c_9_59"/>
          <p:cNvSpPr/>
          <p:nvPr/>
        </p:nvSpPr>
        <p:spPr>
          <a:xfrm>
            <a:off x="8516445" y="3003400"/>
            <a:ext cx="91500" cy="91500"/>
          </a:xfrm>
          <a:prstGeom prst="ellipse">
            <a:avLst/>
          </a:prstGeom>
          <a:solidFill>
            <a:srgbClr val="00CCFF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d0a367c32c_9_59"/>
          <p:cNvSpPr/>
          <p:nvPr/>
        </p:nvSpPr>
        <p:spPr>
          <a:xfrm>
            <a:off x="8630985" y="2957655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BCWP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g3d0a367c32c_9_59"/>
          <p:cNvCxnSpPr/>
          <p:nvPr/>
        </p:nvCxnSpPr>
        <p:spPr>
          <a:xfrm rot="-436695">
            <a:off x="1005840" y="4368153"/>
            <a:ext cx="1521015" cy="0"/>
          </a:xfrm>
          <a:prstGeom prst="straightConnector1">
            <a:avLst/>
          </a:prstGeom>
          <a:noFill/>
          <a:ln cap="flat" cmpd="sng" w="254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g3d0a367c32c_9_59"/>
          <p:cNvCxnSpPr/>
          <p:nvPr/>
        </p:nvCxnSpPr>
        <p:spPr>
          <a:xfrm rot="-622277">
            <a:off x="2514600" y="4175459"/>
            <a:ext cx="1533820" cy="0"/>
          </a:xfrm>
          <a:prstGeom prst="straightConnector1">
            <a:avLst/>
          </a:prstGeom>
          <a:noFill/>
          <a:ln cap="flat" cmpd="sng" w="254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g3d0a367c32c_9_59"/>
          <p:cNvCxnSpPr/>
          <p:nvPr/>
        </p:nvCxnSpPr>
        <p:spPr>
          <a:xfrm rot="-800049">
            <a:off x="4023360" y="3899331"/>
            <a:ext cx="1550561" cy="0"/>
          </a:xfrm>
          <a:prstGeom prst="straightConnector1">
            <a:avLst/>
          </a:prstGeom>
          <a:noFill/>
          <a:ln cap="flat" cmpd="sng" w="254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g3d0a367c32c_9_59"/>
          <p:cNvCxnSpPr/>
          <p:nvPr/>
        </p:nvCxnSpPr>
        <p:spPr>
          <a:xfrm rot="-971862">
            <a:off x="5532120" y="3541726"/>
            <a:ext cx="1571126" cy="0"/>
          </a:xfrm>
          <a:prstGeom prst="straightConnector1">
            <a:avLst/>
          </a:prstGeom>
          <a:noFill/>
          <a:ln cap="flat" cmpd="sng" w="254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" name="Google Shape;391;g3d0a367c32c_9_59"/>
          <p:cNvCxnSpPr/>
          <p:nvPr/>
        </p:nvCxnSpPr>
        <p:spPr>
          <a:xfrm rot="-908247">
            <a:off x="7040880" y="3103456"/>
            <a:ext cx="1562993" cy="0"/>
          </a:xfrm>
          <a:prstGeom prst="straightConnector1">
            <a:avLst/>
          </a:prstGeom>
          <a:noFill/>
          <a:ln cap="flat" cmpd="sng" w="254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g3d0a367c32c_9_59"/>
          <p:cNvSpPr/>
          <p:nvPr/>
        </p:nvSpPr>
        <p:spPr>
          <a:xfrm>
            <a:off x="960120" y="4412521"/>
            <a:ext cx="91500" cy="91500"/>
          </a:xfrm>
          <a:prstGeom prst="ellipse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3d0a367c32c_9_59"/>
          <p:cNvSpPr/>
          <p:nvPr/>
        </p:nvSpPr>
        <p:spPr>
          <a:xfrm>
            <a:off x="2468880" y="4245014"/>
            <a:ext cx="91500" cy="91500"/>
          </a:xfrm>
          <a:prstGeom prst="ellipse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d0a367c32c_9_59"/>
          <p:cNvSpPr/>
          <p:nvPr/>
        </p:nvSpPr>
        <p:spPr>
          <a:xfrm>
            <a:off x="3988090" y="4012461"/>
            <a:ext cx="91500" cy="91500"/>
          </a:xfrm>
          <a:prstGeom prst="ellipse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d0a367c32c_9_59"/>
          <p:cNvSpPr/>
          <p:nvPr/>
        </p:nvSpPr>
        <p:spPr>
          <a:xfrm>
            <a:off x="5515650" y="3702806"/>
            <a:ext cx="91500" cy="91500"/>
          </a:xfrm>
          <a:prstGeom prst="ellipse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d0a367c32c_9_59"/>
          <p:cNvSpPr/>
          <p:nvPr/>
        </p:nvSpPr>
        <p:spPr>
          <a:xfrm>
            <a:off x="7031760" y="3258461"/>
            <a:ext cx="91500" cy="91500"/>
          </a:xfrm>
          <a:prstGeom prst="ellipse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d0a367c32c_9_59"/>
          <p:cNvSpPr/>
          <p:nvPr/>
        </p:nvSpPr>
        <p:spPr>
          <a:xfrm>
            <a:off x="8516483" y="2849358"/>
            <a:ext cx="91500" cy="91500"/>
          </a:xfrm>
          <a:prstGeom prst="ellipse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d0a367c32c_9_59"/>
          <p:cNvSpPr/>
          <p:nvPr/>
        </p:nvSpPr>
        <p:spPr>
          <a:xfrm>
            <a:off x="8630973" y="2807188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ACWP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d0a367c32c_9_59"/>
          <p:cNvSpPr/>
          <p:nvPr/>
        </p:nvSpPr>
        <p:spPr>
          <a:xfrm>
            <a:off x="914400" y="4507992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d0a367c32c_9_59"/>
          <p:cNvSpPr/>
          <p:nvPr/>
        </p:nvSpPr>
        <p:spPr>
          <a:xfrm>
            <a:off x="2423160" y="4507992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d0a367c32c_9_59"/>
          <p:cNvSpPr/>
          <p:nvPr/>
        </p:nvSpPr>
        <p:spPr>
          <a:xfrm>
            <a:off x="3931920" y="4507992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d0a367c32c_9_59"/>
          <p:cNvSpPr/>
          <p:nvPr/>
        </p:nvSpPr>
        <p:spPr>
          <a:xfrm>
            <a:off x="5440680" y="4507992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d0a367c32c_9_59"/>
          <p:cNvSpPr/>
          <p:nvPr/>
        </p:nvSpPr>
        <p:spPr>
          <a:xfrm>
            <a:off x="6949440" y="4507992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d0a367c32c_9_59"/>
          <p:cNvSpPr/>
          <p:nvPr/>
        </p:nvSpPr>
        <p:spPr>
          <a:xfrm>
            <a:off x="8458200" y="4507992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0a367c32c_9_6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d0a367c32c_9_60"/>
          <p:cNvSpPr/>
          <p:nvPr/>
        </p:nvSpPr>
        <p:spPr>
          <a:xfrm>
            <a:off x="411480" y="164592"/>
            <a:ext cx="2286000" cy="20116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05  — ANALISI SCOSTAMENTI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d0a367c32c_9_60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CV e SV — Cosa ci Dicono?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d0a367c32c_9_60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d0a367c32c_9_60"/>
          <p:cNvSpPr/>
          <p:nvPr/>
        </p:nvSpPr>
        <p:spPr>
          <a:xfrm>
            <a:off x="411480" y="1325880"/>
            <a:ext cx="3977640" cy="310896"/>
          </a:xfrm>
          <a:prstGeom prst="rect">
            <a:avLst/>
          </a:prstGeom>
          <a:solidFill>
            <a:srgbClr val="FF3333"/>
          </a:solidFill>
          <a:ln cap="flat" cmpd="sng" w="12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d0a367c32c_9_60"/>
          <p:cNvSpPr/>
          <p:nvPr/>
        </p:nvSpPr>
        <p:spPr>
          <a:xfrm>
            <a:off x="411480" y="1325880"/>
            <a:ext cx="3977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SV — SCHEDULE VARIANCE  (&lt; 0 = IN RITARDO)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d0a367c32c_9_60"/>
          <p:cNvSpPr/>
          <p:nvPr/>
        </p:nvSpPr>
        <p:spPr>
          <a:xfrm>
            <a:off x="411480" y="1664208"/>
            <a:ext cx="3977640" cy="1874520"/>
          </a:xfrm>
          <a:prstGeom prst="rect">
            <a:avLst/>
          </a:prstGeom>
          <a:solidFill>
            <a:srgbClr val="1A0000"/>
          </a:solidFill>
          <a:ln cap="flat" cmpd="sng" w="1015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d0a367c32c_9_60"/>
          <p:cNvSpPr/>
          <p:nvPr/>
        </p:nvSpPr>
        <p:spPr>
          <a:xfrm>
            <a:off x="502920" y="1719072"/>
            <a:ext cx="3794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SV = BCWP – BCWS</a:t>
            </a:r>
            <a:br>
              <a:rPr b="1" i="0" lang="en-US" sz="10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SV @ S6 = </a:t>
            </a:r>
            <a:r>
              <a:rPr b="1" i="0" lang="en-US" sz="10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−€ 32,9 M</a:t>
            </a:r>
            <a:br>
              <a:rPr b="1" i="0" lang="en-US" sz="10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10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Il team ha completato solo l'84% del lavoro pianificato. Significa che siamo </a:t>
            </a:r>
            <a:r>
              <a:rPr b="1" i="0" lang="en-US" sz="10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in ritardo di circa 1 settimana.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SPI = 0.840 → ogni settimana rendiamo solo l'84% di quanto pianificato.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d0a367c32c_9_60"/>
          <p:cNvSpPr/>
          <p:nvPr/>
        </p:nvSpPr>
        <p:spPr>
          <a:xfrm>
            <a:off x="4663440" y="1325880"/>
            <a:ext cx="4069080" cy="31089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d0a367c32c_9_60"/>
          <p:cNvSpPr/>
          <p:nvPr/>
        </p:nvSpPr>
        <p:spPr>
          <a:xfrm>
            <a:off x="4663440" y="1325880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CV — COST VARIANCE  (&lt; 0 = IN SFORAMENTO)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d0a367c32c_9_60"/>
          <p:cNvSpPr/>
          <p:nvPr/>
        </p:nvSpPr>
        <p:spPr>
          <a:xfrm>
            <a:off x="4663440" y="1664208"/>
            <a:ext cx="4069080" cy="1874520"/>
          </a:xfrm>
          <a:prstGeom prst="rect">
            <a:avLst/>
          </a:prstGeom>
          <a:solidFill>
            <a:srgbClr val="1A0A00"/>
          </a:solidFill>
          <a:ln cap="flat" cmpd="sng" w="1015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d0a367c32c_9_60"/>
          <p:cNvSpPr/>
          <p:nvPr/>
        </p:nvSpPr>
        <p:spPr>
          <a:xfrm>
            <a:off x="4754880" y="1719072"/>
            <a:ext cx="3886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CV = BCWP − ACWP</a:t>
            </a:r>
            <a:br>
              <a:rPr b="1" i="0" lang="en-US" sz="10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CV @ S6 = </a:t>
            </a: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−€ 19,0 M</a:t>
            </a:r>
            <a:b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Per ogni euro di valore prodotto ne spendiamo </a:t>
            </a: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1.32 €.</a:t>
            </a:r>
            <a:r>
              <a:rPr b="0" i="1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 I costi reali superano il budget assegnato.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CPI = 0.901 → stiamo spendendo l'11% in più del previsto per unità di lavoro completato.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d0a367c32c_9_60"/>
          <p:cNvSpPr/>
          <p:nvPr/>
        </p:nvSpPr>
        <p:spPr>
          <a:xfrm>
            <a:off x="411480" y="3703320"/>
            <a:ext cx="8321040" cy="310896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3d0a367c32c_9_60"/>
          <p:cNvSpPr/>
          <p:nvPr/>
        </p:nvSpPr>
        <p:spPr>
          <a:xfrm>
            <a:off x="411480" y="3703320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DIAGNOSI COMPLESSIVA → Progetto in RITARDO + SFORAMENTO di BUDGET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d0a367c32c_9_60"/>
          <p:cNvSpPr/>
          <p:nvPr/>
        </p:nvSpPr>
        <p:spPr>
          <a:xfrm>
            <a:off x="411480" y="4114800"/>
            <a:ext cx="8321040" cy="713232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d0a367c32c_9_60"/>
          <p:cNvSpPr/>
          <p:nvPr/>
        </p:nvSpPr>
        <p:spPr>
          <a:xfrm>
            <a:off x="502920" y="413308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EAC = BAC / CPI = 316M / 0.901 = </a:t>
            </a:r>
            <a:r>
              <a:rPr b="1" i="0" lang="en-US" sz="13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€ 350.700.000  </a:t>
            </a:r>
            <a:r>
              <a:rPr b="0" i="1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(senza intervento correttivo)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d0a367c32c_9_60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VAC (Variance at Completion) = EAC − BAC ≈ +€ 34.700.000 → sforamento atteso se non si interviene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0a367c32c_9_6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d0a367c32c_9_61"/>
          <p:cNvSpPr/>
          <p:nvPr/>
        </p:nvSpPr>
        <p:spPr>
          <a:xfrm>
            <a:off x="411480" y="164592"/>
            <a:ext cx="2286000" cy="20116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06 — DECISIONI PM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d0a367c32c_9_61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Piano di Rientro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d0a367c32c_9_61"/>
          <p:cNvSpPr/>
          <p:nvPr/>
        </p:nvSpPr>
        <p:spPr>
          <a:xfrm>
            <a:off x="411480" y="1188720"/>
            <a:ext cx="8321040" cy="36576"/>
          </a:xfrm>
          <a:prstGeom prst="rect">
            <a:avLst/>
          </a:prstGeom>
          <a:solidFill>
            <a:srgbClr val="9800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d0a367c32c_9_61"/>
          <p:cNvSpPr/>
          <p:nvPr/>
        </p:nvSpPr>
        <p:spPr>
          <a:xfrm>
            <a:off x="411480" y="1353312"/>
            <a:ext cx="2697480" cy="15727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d0a367c32c_9_61"/>
          <p:cNvSpPr/>
          <p:nvPr/>
        </p:nvSpPr>
        <p:spPr>
          <a:xfrm>
            <a:off x="411480" y="1353312"/>
            <a:ext cx="2697480" cy="36576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d0a367c32c_9_61"/>
          <p:cNvSpPr/>
          <p:nvPr/>
        </p:nvSpPr>
        <p:spPr>
          <a:xfrm>
            <a:off x="411480" y="142646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d0a367c32c_9_61"/>
          <p:cNvSpPr/>
          <p:nvPr/>
        </p:nvSpPr>
        <p:spPr>
          <a:xfrm>
            <a:off x="850392" y="1426464"/>
            <a:ext cx="2176272" cy="365760"/>
          </a:xfrm>
          <a:prstGeom prst="rect">
            <a:avLst/>
          </a:prstGeom>
          <a:solidFill>
            <a:srgbClr val="783F04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Descoping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d0a367c32c_9_61"/>
          <p:cNvSpPr/>
          <p:nvPr/>
        </p:nvSpPr>
        <p:spPr>
          <a:xfrm>
            <a:off x="502920" y="1828800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Rimandare a DLC feature non critiche (appartamenti, alcune side quest). Recupero: ~3 settimane.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d0a367c32c_9_61"/>
          <p:cNvSpPr/>
          <p:nvPr/>
        </p:nvSpPr>
        <p:spPr>
          <a:xfrm>
            <a:off x="3227832" y="1353312"/>
            <a:ext cx="2697480" cy="15727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d0a367c32c_9_61"/>
          <p:cNvSpPr/>
          <p:nvPr/>
        </p:nvSpPr>
        <p:spPr>
          <a:xfrm>
            <a:off x="3227832" y="1353312"/>
            <a:ext cx="2697480" cy="36576"/>
          </a:xfrm>
          <a:prstGeom prst="rect">
            <a:avLst/>
          </a:prstGeom>
          <a:solidFill>
            <a:srgbClr val="00CCFF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d0a367c32c_9_61"/>
          <p:cNvSpPr/>
          <p:nvPr/>
        </p:nvSpPr>
        <p:spPr>
          <a:xfrm>
            <a:off x="3227832" y="142646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d0a367c32c_9_61"/>
          <p:cNvSpPr/>
          <p:nvPr/>
        </p:nvSpPr>
        <p:spPr>
          <a:xfrm>
            <a:off x="3666744" y="1426464"/>
            <a:ext cx="2176272" cy="365760"/>
          </a:xfrm>
          <a:prstGeom prst="rect">
            <a:avLst/>
          </a:prstGeom>
          <a:solidFill>
            <a:srgbClr val="0C343D"/>
          </a:solidFill>
          <a:ln cap="flat" cmpd="sng" w="9525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Crunch controllato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d0a367c32c_9_61"/>
          <p:cNvSpPr/>
          <p:nvPr/>
        </p:nvSpPr>
        <p:spPr>
          <a:xfrm>
            <a:off x="3319272" y="1828800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Straordinari mirati al team core (sett. 7-8) con bonus retention per non perdere key developer.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d0a367c32c_9_61"/>
          <p:cNvSpPr/>
          <p:nvPr/>
        </p:nvSpPr>
        <p:spPr>
          <a:xfrm>
            <a:off x="6044184" y="1353312"/>
            <a:ext cx="2697480" cy="15727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d0a367c32c_9_61"/>
          <p:cNvSpPr/>
          <p:nvPr/>
        </p:nvSpPr>
        <p:spPr>
          <a:xfrm>
            <a:off x="6044184" y="1353312"/>
            <a:ext cx="2697480" cy="36576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d0a367c32c_9_61"/>
          <p:cNvSpPr/>
          <p:nvPr/>
        </p:nvSpPr>
        <p:spPr>
          <a:xfrm>
            <a:off x="6044184" y="142646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d0a367c32c_9_61"/>
          <p:cNvSpPr/>
          <p:nvPr/>
        </p:nvSpPr>
        <p:spPr>
          <a:xfrm>
            <a:off x="6483096" y="1426464"/>
            <a:ext cx="2176200" cy="365700"/>
          </a:xfrm>
          <a:prstGeom prst="rect">
            <a:avLst/>
          </a:prstGeom>
          <a:solidFill>
            <a:srgbClr val="6600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Budget approval +8%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d0a367c32c_9_61"/>
          <p:cNvSpPr/>
          <p:nvPr/>
        </p:nvSpPr>
        <p:spPr>
          <a:xfrm>
            <a:off x="6135624" y="1828800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Richiedere approvazione per +€25M per coprire lo sforamento ACWP attuale e garantire lancio stabile.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d0a367c32c_9_61"/>
          <p:cNvSpPr/>
          <p:nvPr/>
        </p:nvSpPr>
        <p:spPr>
          <a:xfrm>
            <a:off x="411480" y="3072384"/>
            <a:ext cx="2697480" cy="15727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39FF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d0a367c32c_9_61"/>
          <p:cNvSpPr/>
          <p:nvPr/>
        </p:nvSpPr>
        <p:spPr>
          <a:xfrm>
            <a:off x="411480" y="3072384"/>
            <a:ext cx="2697480" cy="36576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39FF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d0a367c32c_9_61"/>
          <p:cNvSpPr/>
          <p:nvPr/>
        </p:nvSpPr>
        <p:spPr>
          <a:xfrm>
            <a:off x="411480" y="314553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9FF14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d0a367c32c_9_61"/>
          <p:cNvSpPr/>
          <p:nvPr/>
        </p:nvSpPr>
        <p:spPr>
          <a:xfrm>
            <a:off x="850392" y="3145536"/>
            <a:ext cx="2176272" cy="365760"/>
          </a:xfrm>
          <a:prstGeom prst="rect">
            <a:avLst/>
          </a:prstGeom>
          <a:solidFill>
            <a:srgbClr val="274E13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 esterno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d0a367c32c_9_61"/>
          <p:cNvSpPr/>
          <p:nvPr/>
        </p:nvSpPr>
        <p:spPr>
          <a:xfrm>
            <a:off x="502920" y="3547872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Ingaggiare una software house esterna per la certificazione su console e comprimere i tempi.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d0a367c32c_9_61"/>
          <p:cNvSpPr/>
          <p:nvPr/>
        </p:nvSpPr>
        <p:spPr>
          <a:xfrm>
            <a:off x="3227832" y="3072384"/>
            <a:ext cx="2697480" cy="15727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d0a367c32c_9_61"/>
          <p:cNvSpPr/>
          <p:nvPr/>
        </p:nvSpPr>
        <p:spPr>
          <a:xfrm>
            <a:off x="3227832" y="3072384"/>
            <a:ext cx="2697480" cy="36576"/>
          </a:xfrm>
          <a:prstGeom prst="rect">
            <a:avLst/>
          </a:prstGeom>
          <a:solidFill>
            <a:srgbClr val="FF3333"/>
          </a:solidFill>
          <a:ln cap="flat" cmpd="sng" w="12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d0a367c32c_9_61"/>
          <p:cNvSpPr/>
          <p:nvPr/>
        </p:nvSpPr>
        <p:spPr>
          <a:xfrm>
            <a:off x="3227832" y="314553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d0a367c32c_9_61"/>
          <p:cNvSpPr/>
          <p:nvPr/>
        </p:nvSpPr>
        <p:spPr>
          <a:xfrm>
            <a:off x="3666744" y="3145536"/>
            <a:ext cx="2176272" cy="365760"/>
          </a:xfrm>
          <a:prstGeom prst="rect">
            <a:avLst/>
          </a:prstGeom>
          <a:solidFill>
            <a:srgbClr val="5B0F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freeze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d0a367c32c_9_61"/>
          <p:cNvSpPr/>
          <p:nvPr/>
        </p:nvSpPr>
        <p:spPr>
          <a:xfrm>
            <a:off x="3319272" y="3547872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Blocco totale di nuove feature da S7 a S10. Solo bug fix P1/P2 e ottimizzazioni performance.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d0a367c32c_9_61"/>
          <p:cNvSpPr/>
          <p:nvPr/>
        </p:nvSpPr>
        <p:spPr>
          <a:xfrm>
            <a:off x="6044184" y="3072384"/>
            <a:ext cx="2697480" cy="15727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d0a367c32c_9_61"/>
          <p:cNvSpPr/>
          <p:nvPr/>
        </p:nvSpPr>
        <p:spPr>
          <a:xfrm>
            <a:off x="6044184" y="3072384"/>
            <a:ext cx="2697480" cy="36576"/>
          </a:xfrm>
          <a:prstGeom prst="rect">
            <a:avLst/>
          </a:prstGeom>
          <a:solidFill>
            <a:srgbClr val="00CCFF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d0a367c32c_9_61"/>
          <p:cNvSpPr/>
          <p:nvPr/>
        </p:nvSpPr>
        <p:spPr>
          <a:xfrm>
            <a:off x="6044184" y="314553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d0a367c32c_9_61"/>
          <p:cNvSpPr/>
          <p:nvPr/>
        </p:nvSpPr>
        <p:spPr>
          <a:xfrm>
            <a:off x="6483096" y="3145536"/>
            <a:ext cx="2176272" cy="365760"/>
          </a:xfrm>
          <a:prstGeom prst="rect">
            <a:avLst/>
          </a:prstGeom>
          <a:solidFill>
            <a:srgbClr val="20124D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Daily standup PM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d0a367c32c_9_61"/>
          <p:cNvSpPr/>
          <p:nvPr/>
        </p:nvSpPr>
        <p:spPr>
          <a:xfrm>
            <a:off x="6135624" y="3547872"/>
            <a:ext cx="2514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Meeting giornalieri per identificare blocchi in anticipo e mantenere visibilità sull'avanzamento.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d0a367c32c_9_61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Obiettivo: ridurre lo sforamento da +€101M (EAC no-action) a +€25–30M con piano di rientro approvato.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0a367c32c_9_451"/>
          <p:cNvSpPr/>
          <p:nvPr/>
        </p:nvSpPr>
        <p:spPr>
          <a:xfrm>
            <a:off x="320040" y="164592"/>
            <a:ext cx="2103120" cy="274320"/>
          </a:xfrm>
          <a:prstGeom prst="rect">
            <a:avLst/>
          </a:prstGeom>
          <a:solidFill>
            <a:srgbClr val="F5E600"/>
          </a:solidFill>
          <a:ln cap="flat" cmpd="sng" w="12700">
            <a:solidFill>
              <a:srgbClr val="F5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d0a367c32c_9_451"/>
          <p:cNvSpPr/>
          <p:nvPr/>
        </p:nvSpPr>
        <p:spPr>
          <a:xfrm>
            <a:off x="320040" y="1645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07 — PROBLEMI RILEVATI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d0a367c32c_9_451"/>
          <p:cNvSpPr/>
          <p:nvPr/>
        </p:nvSpPr>
        <p:spPr>
          <a:xfrm>
            <a:off x="320040" y="548640"/>
            <a:ext cx="8503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Situazione Critica</a:t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d0a367c32c_9_451"/>
          <p:cNvSpPr/>
          <p:nvPr/>
        </p:nvSpPr>
        <p:spPr>
          <a:xfrm>
            <a:off x="320040" y="1325880"/>
            <a:ext cx="8503920" cy="41148"/>
          </a:xfrm>
          <a:prstGeom prst="rect">
            <a:avLst/>
          </a:prstGeom>
          <a:solidFill>
            <a:srgbClr val="F5E600"/>
          </a:solidFill>
          <a:ln cap="flat" cmpd="sng" w="12700">
            <a:solidFill>
              <a:srgbClr val="F5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d0a367c32c_9_451"/>
          <p:cNvSpPr/>
          <p:nvPr/>
        </p:nvSpPr>
        <p:spPr>
          <a:xfrm>
            <a:off x="320040" y="1463040"/>
            <a:ext cx="4160520" cy="164592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3d0a367c32c_9_451"/>
          <p:cNvSpPr/>
          <p:nvPr/>
        </p:nvSpPr>
        <p:spPr>
          <a:xfrm>
            <a:off x="320040" y="1463040"/>
            <a:ext cx="64008" cy="1645920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d0a367c32c_9_451"/>
          <p:cNvSpPr/>
          <p:nvPr/>
        </p:nvSpPr>
        <p:spPr>
          <a:xfrm>
            <a:off x="3154680" y="1591056"/>
            <a:ext cx="1234440" cy="256032"/>
          </a:xfrm>
          <a:prstGeom prst="rect">
            <a:avLst/>
          </a:prstGeom>
          <a:solidFill>
            <a:srgbClr val="2D0000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d0a367c32c_9_451"/>
          <p:cNvSpPr/>
          <p:nvPr/>
        </p:nvSpPr>
        <p:spPr>
          <a:xfrm>
            <a:off x="3154680" y="159105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FF4444"/>
                </a:solidFill>
                <a:latin typeface="Consolas"/>
                <a:ea typeface="Consolas"/>
                <a:cs typeface="Consolas"/>
                <a:sym typeface="Consolas"/>
              </a:rPr>
              <a:t>SPI = 0.840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d0a367c32c_9_451"/>
          <p:cNvSpPr/>
          <p:nvPr/>
        </p:nvSpPr>
        <p:spPr>
          <a:xfrm>
            <a:off x="457200" y="157276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E6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E600"/>
                </a:solidFill>
                <a:latin typeface="Arial"/>
                <a:ea typeface="Arial"/>
                <a:cs typeface="Arial"/>
                <a:sym typeface="Arial"/>
              </a:rPr>
              <a:t>Ritardo Schedule (SPI &lt; 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d0a367c32c_9_451"/>
          <p:cNvSpPr/>
          <p:nvPr/>
        </p:nvSpPr>
        <p:spPr>
          <a:xfrm>
            <a:off x="457200" y="1956816"/>
            <a:ext cx="3931920" cy="22860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d0a367c32c_9_451"/>
          <p:cNvSpPr/>
          <p:nvPr/>
        </p:nvSpPr>
        <p:spPr>
          <a:xfrm>
            <a:off x="457200" y="2029968"/>
            <a:ext cx="39318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REDengine 4 proprietario e scope creep hanno rallentato le milestone chiave. Bug critici nel QA rimandano indietro deliverable già completati.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d0a367c32c_9_451"/>
          <p:cNvSpPr/>
          <p:nvPr/>
        </p:nvSpPr>
        <p:spPr>
          <a:xfrm>
            <a:off x="4663440" y="1463040"/>
            <a:ext cx="4160520" cy="164592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d0a367c32c_9_451"/>
          <p:cNvSpPr/>
          <p:nvPr/>
        </p:nvSpPr>
        <p:spPr>
          <a:xfrm>
            <a:off x="4663440" y="1463040"/>
            <a:ext cx="64008" cy="1645920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d0a367c32c_9_451"/>
          <p:cNvSpPr/>
          <p:nvPr/>
        </p:nvSpPr>
        <p:spPr>
          <a:xfrm>
            <a:off x="7498080" y="1591056"/>
            <a:ext cx="1234440" cy="256032"/>
          </a:xfrm>
          <a:prstGeom prst="rect">
            <a:avLst/>
          </a:prstGeom>
          <a:solidFill>
            <a:srgbClr val="2D0000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d0a367c32c_9_451"/>
          <p:cNvSpPr/>
          <p:nvPr/>
        </p:nvSpPr>
        <p:spPr>
          <a:xfrm>
            <a:off x="7498080" y="159105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FF4444"/>
                </a:solidFill>
                <a:latin typeface="Consolas"/>
                <a:ea typeface="Consolas"/>
                <a:cs typeface="Consolas"/>
                <a:sym typeface="Consolas"/>
              </a:rPr>
              <a:t>CPI = 0.901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d0a367c32c_9_451"/>
          <p:cNvSpPr/>
          <p:nvPr/>
        </p:nvSpPr>
        <p:spPr>
          <a:xfrm>
            <a:off x="4800600" y="157276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E6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E600"/>
                </a:solidFill>
                <a:latin typeface="Arial"/>
                <a:ea typeface="Arial"/>
                <a:cs typeface="Arial"/>
                <a:sym typeface="Arial"/>
              </a:rPr>
              <a:t>Sforamento Costi (CPI &lt; 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d0a367c32c_9_451"/>
          <p:cNvSpPr/>
          <p:nvPr/>
        </p:nvSpPr>
        <p:spPr>
          <a:xfrm>
            <a:off x="4800600" y="1956816"/>
            <a:ext cx="3931920" cy="22860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d0a367c32c_9_451"/>
          <p:cNvSpPr/>
          <p:nvPr/>
        </p:nvSpPr>
        <p:spPr>
          <a:xfrm>
            <a:off x="4800600" y="2029968"/>
            <a:ext cx="393192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Per ogni € di valore prodotto ne spendiamo 1,32.</a:t>
            </a:r>
            <a:r>
              <a:rPr b="0" i="0" lang="en-US" sz="11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50">
                <a:solidFill>
                  <a:srgbClr val="CCCCCC"/>
                </a:solidFill>
              </a:rPr>
              <a:t>Effetti </a:t>
            </a:r>
            <a:r>
              <a:rPr b="0" i="0" lang="en-US" sz="11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probabil</a:t>
            </a:r>
            <a:r>
              <a:rPr lang="en-US" sz="1150">
                <a:solidFill>
                  <a:srgbClr val="CCCCCC"/>
                </a:solidFill>
              </a:rPr>
              <a:t>i</a:t>
            </a:r>
            <a:r>
              <a:rPr b="0" i="0" lang="en-US" sz="11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 overtime, mocap e doppiaggio fuori controllo.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d0a367c32c_9_451"/>
          <p:cNvSpPr/>
          <p:nvPr/>
        </p:nvSpPr>
        <p:spPr>
          <a:xfrm>
            <a:off x="320040" y="3218688"/>
            <a:ext cx="4160520" cy="164592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d0a367c32c_9_451"/>
          <p:cNvSpPr/>
          <p:nvPr/>
        </p:nvSpPr>
        <p:spPr>
          <a:xfrm>
            <a:off x="320040" y="3218688"/>
            <a:ext cx="64008" cy="1645920"/>
          </a:xfrm>
          <a:prstGeom prst="rect">
            <a:avLst/>
          </a:prstGeom>
          <a:solidFill>
            <a:srgbClr val="FF8C00"/>
          </a:solidFill>
          <a:ln cap="flat" cmpd="sng" w="127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d0a367c32c_9_451"/>
          <p:cNvSpPr/>
          <p:nvPr/>
        </p:nvSpPr>
        <p:spPr>
          <a:xfrm>
            <a:off x="3154680" y="3346704"/>
            <a:ext cx="1234440" cy="256032"/>
          </a:xfrm>
          <a:prstGeom prst="rect">
            <a:avLst/>
          </a:prstGeom>
          <a:solidFill>
            <a:srgbClr val="2D0000"/>
          </a:solidFill>
          <a:ln cap="flat" cmpd="sng" w="127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d0a367c32c_9_451"/>
          <p:cNvSpPr/>
          <p:nvPr/>
        </p:nvSpPr>
        <p:spPr>
          <a:xfrm>
            <a:off x="3154680" y="3346704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FF8C00"/>
                </a:solidFill>
                <a:latin typeface="Consolas"/>
                <a:ea typeface="Consolas"/>
                <a:cs typeface="Consolas"/>
                <a:sym typeface="Consolas"/>
              </a:rPr>
              <a:t>CRITICO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d0a367c32c_9_451"/>
          <p:cNvSpPr/>
          <p:nvPr/>
        </p:nvSpPr>
        <p:spPr>
          <a:xfrm>
            <a:off x="457200" y="3328416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E6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E600"/>
                </a:solidFill>
                <a:latin typeface="Arial"/>
                <a:ea typeface="Arial"/>
                <a:cs typeface="Arial"/>
                <a:sym typeface="Arial"/>
              </a:rPr>
              <a:t>Rischio Reputazionale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d0a367c32c_9_451"/>
          <p:cNvSpPr/>
          <p:nvPr/>
        </p:nvSpPr>
        <p:spPr>
          <a:xfrm>
            <a:off x="457200" y="3712464"/>
            <a:ext cx="3931920" cy="22860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d0a367c32c_9_451"/>
          <p:cNvSpPr/>
          <p:nvPr/>
        </p:nvSpPr>
        <p:spPr>
          <a:xfrm>
            <a:off x="457200" y="3785616"/>
            <a:ext cx="393192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CD Projekt RED ha già storia di ritardi (The Witcher 3). Un ulteriore slittamento danneggerebbe pre-ordini e relazioni con i publisher.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g3d0a367c32c_9_451"/>
          <p:cNvSpPr/>
          <p:nvPr/>
        </p:nvSpPr>
        <p:spPr>
          <a:xfrm>
            <a:off x="4663440" y="3218688"/>
            <a:ext cx="4160520" cy="164592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d0a367c32c_9_451"/>
          <p:cNvSpPr/>
          <p:nvPr/>
        </p:nvSpPr>
        <p:spPr>
          <a:xfrm>
            <a:off x="4663440" y="3218688"/>
            <a:ext cx="64008" cy="1645920"/>
          </a:xfrm>
          <a:prstGeom prst="rect">
            <a:avLst/>
          </a:prstGeom>
          <a:solidFill>
            <a:srgbClr val="FF8C00"/>
          </a:solidFill>
          <a:ln cap="flat" cmpd="sng" w="127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d0a367c32c_9_451"/>
          <p:cNvSpPr/>
          <p:nvPr/>
        </p:nvSpPr>
        <p:spPr>
          <a:xfrm>
            <a:off x="7498080" y="3346704"/>
            <a:ext cx="1234440" cy="256032"/>
          </a:xfrm>
          <a:prstGeom prst="rect">
            <a:avLst/>
          </a:prstGeom>
          <a:solidFill>
            <a:srgbClr val="2D0000"/>
          </a:solidFill>
          <a:ln cap="flat" cmpd="sng" w="127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d0a367c32c_9_451"/>
          <p:cNvSpPr/>
          <p:nvPr/>
        </p:nvSpPr>
        <p:spPr>
          <a:xfrm>
            <a:off x="7498080" y="3346704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C0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FF8C00"/>
                </a:solidFill>
                <a:latin typeface="Consolas"/>
                <a:ea typeface="Consolas"/>
                <a:cs typeface="Consolas"/>
                <a:sym typeface="Consolas"/>
              </a:rPr>
              <a:t>URGENTE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d0a367c32c_9_451"/>
          <p:cNvSpPr/>
          <p:nvPr/>
        </p:nvSpPr>
        <p:spPr>
          <a:xfrm>
            <a:off x="4800600" y="3328416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E6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E600"/>
                </a:solidFill>
                <a:latin typeface="Arial"/>
                <a:ea typeface="Arial"/>
                <a:cs typeface="Arial"/>
                <a:sym typeface="Arial"/>
              </a:rPr>
              <a:t>Pressione Piattaforme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d0a367c32c_9_451"/>
          <p:cNvSpPr/>
          <p:nvPr/>
        </p:nvSpPr>
        <p:spPr>
          <a:xfrm>
            <a:off x="4800600" y="3712464"/>
            <a:ext cx="3931920" cy="22860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d0a367c32c_9_451"/>
          <p:cNvSpPr/>
          <p:nvPr/>
        </p:nvSpPr>
        <p:spPr>
          <a:xfrm>
            <a:off x="4800600" y="3785616"/>
            <a:ext cx="393192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Contratti di certificazione con Sony/MS hanno finestre fisse: sforare significa perdere la slot di lancio natalizia.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d0a367c32c_9_45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0A0A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0" name="Google Shape;510;g3d0a367c32c_9_62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g3d0a367c32c_9_62"/>
          <p:cNvCxnSpPr/>
          <p:nvPr/>
        </p:nvCxnSpPr>
        <p:spPr>
          <a:xfrm>
            <a:off x="0" y="384048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g3d0a367c32c_9_62"/>
          <p:cNvCxnSpPr/>
          <p:nvPr/>
        </p:nvCxnSpPr>
        <p:spPr>
          <a:xfrm>
            <a:off x="0" y="76809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3" name="Google Shape;513;g3d0a367c32c_9_62"/>
          <p:cNvCxnSpPr/>
          <p:nvPr/>
        </p:nvCxnSpPr>
        <p:spPr>
          <a:xfrm>
            <a:off x="0" y="1152144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g3d0a367c32c_9_62"/>
          <p:cNvCxnSpPr/>
          <p:nvPr/>
        </p:nvCxnSpPr>
        <p:spPr>
          <a:xfrm>
            <a:off x="0" y="153619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g3d0a367c32c_9_62"/>
          <p:cNvCxnSpPr/>
          <p:nvPr/>
        </p:nvCxnSpPr>
        <p:spPr>
          <a:xfrm>
            <a:off x="0" y="19202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g3d0a367c32c_9_62"/>
          <p:cNvCxnSpPr/>
          <p:nvPr/>
        </p:nvCxnSpPr>
        <p:spPr>
          <a:xfrm>
            <a:off x="0" y="2304288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7" name="Google Shape;517;g3d0a367c32c_9_62"/>
          <p:cNvCxnSpPr/>
          <p:nvPr/>
        </p:nvCxnSpPr>
        <p:spPr>
          <a:xfrm>
            <a:off x="0" y="268833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g3d0a367c32c_9_62"/>
          <p:cNvCxnSpPr/>
          <p:nvPr/>
        </p:nvCxnSpPr>
        <p:spPr>
          <a:xfrm>
            <a:off x="0" y="3072384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g3d0a367c32c_9_62"/>
          <p:cNvCxnSpPr/>
          <p:nvPr/>
        </p:nvCxnSpPr>
        <p:spPr>
          <a:xfrm>
            <a:off x="0" y="3456432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g3d0a367c32c_9_62"/>
          <p:cNvCxnSpPr/>
          <p:nvPr/>
        </p:nvCxnSpPr>
        <p:spPr>
          <a:xfrm>
            <a:off x="0" y="38404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1" name="Google Shape;521;g3d0a367c32c_9_62"/>
          <p:cNvCxnSpPr/>
          <p:nvPr/>
        </p:nvCxnSpPr>
        <p:spPr>
          <a:xfrm>
            <a:off x="0" y="4224528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2" name="Google Shape;522;g3d0a367c32c_9_62"/>
          <p:cNvCxnSpPr/>
          <p:nvPr/>
        </p:nvCxnSpPr>
        <p:spPr>
          <a:xfrm>
            <a:off x="0" y="460857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3" name="Google Shape;523;g3d0a367c32c_9_62"/>
          <p:cNvCxnSpPr/>
          <p:nvPr/>
        </p:nvCxnSpPr>
        <p:spPr>
          <a:xfrm>
            <a:off x="0" y="4992624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g3d0a367c32c_9_6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user-data/uploads/1773579229440__87B90334-3626-4631-9F0D-E1213B7B4D23_.png" id="525" name="Google Shape;525;g3d0a367c32c_9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"/>
            <a:ext cx="4114800" cy="91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6" name="Google Shape;526;g3d0a367c32c_9_62"/>
          <p:cNvCxnSpPr/>
          <p:nvPr/>
        </p:nvCxnSpPr>
        <p:spPr>
          <a:xfrm>
            <a:off x="411480" y="132588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g3d0a367c32c_9_62"/>
          <p:cNvSpPr/>
          <p:nvPr/>
        </p:nvSpPr>
        <p:spPr>
          <a:xfrm>
            <a:off x="411480" y="141732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SINTESI FINALE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d0a367c32c_9_62"/>
          <p:cNvSpPr/>
          <p:nvPr/>
        </p:nvSpPr>
        <p:spPr>
          <a:xfrm>
            <a:off x="411480" y="1828800"/>
            <a:ext cx="4023360" cy="59436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3d0a367c32c_9_62"/>
          <p:cNvSpPr/>
          <p:nvPr/>
        </p:nvSpPr>
        <p:spPr>
          <a:xfrm>
            <a:off x="411480" y="1828800"/>
            <a:ext cx="36576" cy="594360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d0a367c32c_9_62"/>
          <p:cNvSpPr/>
          <p:nvPr/>
        </p:nvSpPr>
        <p:spPr>
          <a:xfrm>
            <a:off x="521208" y="18288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Budget Totale (BAC)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d0a367c32c_9_62"/>
          <p:cNvSpPr/>
          <p:nvPr/>
        </p:nvSpPr>
        <p:spPr>
          <a:xfrm>
            <a:off x="2788920" y="182880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E600"/>
                </a:solidFill>
                <a:latin typeface="Arial"/>
                <a:ea typeface="Arial"/>
                <a:cs typeface="Arial"/>
                <a:sym typeface="Arial"/>
              </a:rPr>
              <a:t>€ 316.000.000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d0a367c32c_9_62"/>
          <p:cNvSpPr/>
          <p:nvPr/>
        </p:nvSpPr>
        <p:spPr>
          <a:xfrm>
            <a:off x="4617720" y="1828800"/>
            <a:ext cx="4023360" cy="59436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d0a367c32c_9_62"/>
          <p:cNvSpPr/>
          <p:nvPr/>
        </p:nvSpPr>
        <p:spPr>
          <a:xfrm>
            <a:off x="4617720" y="1828800"/>
            <a:ext cx="36576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d0a367c32c_9_62"/>
          <p:cNvSpPr/>
          <p:nvPr/>
        </p:nvSpPr>
        <p:spPr>
          <a:xfrm>
            <a:off x="4727448" y="182880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BCWS @ S6 (pianificato)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d0a367c32c_9_62"/>
          <p:cNvSpPr/>
          <p:nvPr/>
        </p:nvSpPr>
        <p:spPr>
          <a:xfrm>
            <a:off x="6995160" y="182880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€ 205,4 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d0a367c32c_9_62"/>
          <p:cNvSpPr/>
          <p:nvPr/>
        </p:nvSpPr>
        <p:spPr>
          <a:xfrm>
            <a:off x="411480" y="2542032"/>
            <a:ext cx="4023360" cy="59436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d0a367c32c_9_62"/>
          <p:cNvSpPr/>
          <p:nvPr/>
        </p:nvSpPr>
        <p:spPr>
          <a:xfrm>
            <a:off x="411480" y="2542032"/>
            <a:ext cx="36576" cy="594360"/>
          </a:xfrm>
          <a:prstGeom prst="rect">
            <a:avLst/>
          </a:prstGeom>
          <a:solidFill>
            <a:srgbClr val="00CCFF"/>
          </a:solidFill>
          <a:ln cap="flat" cmpd="sng" w="127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d0a367c32c_9_62"/>
          <p:cNvSpPr/>
          <p:nvPr/>
        </p:nvSpPr>
        <p:spPr>
          <a:xfrm>
            <a:off x="521208" y="2542032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BCWP @ S6 (realizzato)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d0a367c32c_9_62"/>
          <p:cNvSpPr/>
          <p:nvPr/>
        </p:nvSpPr>
        <p:spPr>
          <a:xfrm>
            <a:off x="2788920" y="2542032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rPr>
              <a:t>€ 172,5 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d0a367c32c_9_62"/>
          <p:cNvSpPr/>
          <p:nvPr/>
        </p:nvSpPr>
        <p:spPr>
          <a:xfrm>
            <a:off x="4617720" y="2542032"/>
            <a:ext cx="4023360" cy="59436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d0a367c32c_9_62"/>
          <p:cNvSpPr/>
          <p:nvPr/>
        </p:nvSpPr>
        <p:spPr>
          <a:xfrm>
            <a:off x="4617720" y="2542032"/>
            <a:ext cx="36576" cy="594360"/>
          </a:xfrm>
          <a:prstGeom prst="rect">
            <a:avLst/>
          </a:prstGeom>
          <a:solidFill>
            <a:srgbClr val="FF6B00"/>
          </a:solidFill>
          <a:ln cap="flat" cmpd="sng" w="127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d0a367c32c_9_62"/>
          <p:cNvSpPr/>
          <p:nvPr/>
        </p:nvSpPr>
        <p:spPr>
          <a:xfrm>
            <a:off x="4727448" y="2542032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ACWP @ S6 (speso)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d0a367c32c_9_62"/>
          <p:cNvSpPr/>
          <p:nvPr/>
        </p:nvSpPr>
        <p:spPr>
          <a:xfrm>
            <a:off x="6995160" y="2542032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6B00"/>
                </a:solidFill>
                <a:latin typeface="Arial"/>
                <a:ea typeface="Arial"/>
                <a:cs typeface="Arial"/>
                <a:sym typeface="Arial"/>
              </a:rPr>
              <a:t>€ 191,5 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d0a367c32c_9_62"/>
          <p:cNvSpPr/>
          <p:nvPr/>
        </p:nvSpPr>
        <p:spPr>
          <a:xfrm>
            <a:off x="411480" y="3255264"/>
            <a:ext cx="4023360" cy="59436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g3d0a367c32c_9_62"/>
          <p:cNvSpPr/>
          <p:nvPr/>
        </p:nvSpPr>
        <p:spPr>
          <a:xfrm>
            <a:off x="411480" y="3255264"/>
            <a:ext cx="36576" cy="594360"/>
          </a:xfrm>
          <a:prstGeom prst="rect">
            <a:avLst/>
          </a:prstGeom>
          <a:solidFill>
            <a:srgbClr val="FF3333"/>
          </a:solidFill>
          <a:ln cap="flat" cmpd="sng" w="12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d0a367c32c_9_62"/>
          <p:cNvSpPr/>
          <p:nvPr/>
        </p:nvSpPr>
        <p:spPr>
          <a:xfrm>
            <a:off x="521208" y="3255264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SPI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d0a367c32c_9_62"/>
          <p:cNvSpPr/>
          <p:nvPr/>
        </p:nvSpPr>
        <p:spPr>
          <a:xfrm>
            <a:off x="2788920" y="3255264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0.840  → Ritardo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d0a367c32c_9_62"/>
          <p:cNvSpPr/>
          <p:nvPr/>
        </p:nvSpPr>
        <p:spPr>
          <a:xfrm>
            <a:off x="4617720" y="3255264"/>
            <a:ext cx="4023360" cy="59436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3d0a367c32c_9_62"/>
          <p:cNvSpPr/>
          <p:nvPr/>
        </p:nvSpPr>
        <p:spPr>
          <a:xfrm>
            <a:off x="4617720" y="3255264"/>
            <a:ext cx="36576" cy="594360"/>
          </a:xfrm>
          <a:prstGeom prst="rect">
            <a:avLst/>
          </a:prstGeom>
          <a:solidFill>
            <a:srgbClr val="FF3333"/>
          </a:solidFill>
          <a:ln cap="flat" cmpd="sng" w="12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d0a367c32c_9_62"/>
          <p:cNvSpPr/>
          <p:nvPr/>
        </p:nvSpPr>
        <p:spPr>
          <a:xfrm>
            <a:off x="4727448" y="3255264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CPI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d0a367c32c_9_62"/>
          <p:cNvSpPr/>
          <p:nvPr/>
        </p:nvSpPr>
        <p:spPr>
          <a:xfrm>
            <a:off x="6995160" y="3255264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0.901  → Sforamento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d0a367c32c_9_62"/>
          <p:cNvSpPr/>
          <p:nvPr/>
        </p:nvSpPr>
        <p:spPr>
          <a:xfrm>
            <a:off x="411480" y="3968496"/>
            <a:ext cx="4023360" cy="59436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d0a367c32c_9_62"/>
          <p:cNvSpPr/>
          <p:nvPr/>
        </p:nvSpPr>
        <p:spPr>
          <a:xfrm>
            <a:off x="411480" y="3968496"/>
            <a:ext cx="36576" cy="594360"/>
          </a:xfrm>
          <a:prstGeom prst="rect">
            <a:avLst/>
          </a:prstGeom>
          <a:solidFill>
            <a:srgbClr val="FF3333"/>
          </a:solidFill>
          <a:ln cap="flat" cmpd="sng" w="1270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d0a367c32c_9_62"/>
          <p:cNvSpPr/>
          <p:nvPr/>
        </p:nvSpPr>
        <p:spPr>
          <a:xfrm>
            <a:off x="521208" y="3968496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EAC (senza intervento)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3d0a367c32c_9_62"/>
          <p:cNvSpPr/>
          <p:nvPr/>
        </p:nvSpPr>
        <p:spPr>
          <a:xfrm>
            <a:off x="2788920" y="3968496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33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€ 350.700.000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d0a367c32c_9_62"/>
          <p:cNvSpPr/>
          <p:nvPr/>
        </p:nvSpPr>
        <p:spPr>
          <a:xfrm>
            <a:off x="4617720" y="3968496"/>
            <a:ext cx="4023360" cy="594360"/>
          </a:xfrm>
          <a:prstGeom prst="rect">
            <a:avLst/>
          </a:prstGeom>
          <a:solidFill>
            <a:srgbClr val="161616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d0a367c32c_9_62"/>
          <p:cNvSpPr/>
          <p:nvPr/>
        </p:nvSpPr>
        <p:spPr>
          <a:xfrm>
            <a:off x="4617720" y="3968496"/>
            <a:ext cx="36576" cy="594360"/>
          </a:xfrm>
          <a:prstGeom prst="rect">
            <a:avLst/>
          </a:prstGeom>
          <a:solidFill>
            <a:srgbClr val="39FF14"/>
          </a:solidFill>
          <a:ln cap="flat" cmpd="sng" w="12700">
            <a:solidFill>
              <a:srgbClr val="39FF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d0a367c32c_9_62"/>
          <p:cNvSpPr/>
          <p:nvPr/>
        </p:nvSpPr>
        <p:spPr>
          <a:xfrm>
            <a:off x="4727448" y="3968496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EAC (con piano rientro)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d0a367c32c_9_62"/>
          <p:cNvSpPr/>
          <p:nvPr/>
        </p:nvSpPr>
        <p:spPr>
          <a:xfrm>
            <a:off x="6995160" y="3968496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FF1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9FF14"/>
                </a:solidFill>
                <a:latin typeface="Arial"/>
                <a:ea typeface="Arial"/>
                <a:cs typeface="Arial"/>
                <a:sym typeface="Arial"/>
              </a:rPr>
              <a:t>≈ € 341.000.000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d0a367c32c_9_62"/>
          <p:cNvSpPr/>
          <p:nvPr/>
        </p:nvSpPr>
        <p:spPr>
          <a:xfrm>
            <a:off x="411480" y="4736592"/>
            <a:ext cx="8321040" cy="237744"/>
          </a:xfrm>
          <a:prstGeom prst="rect">
            <a:avLst/>
          </a:prstGeom>
          <a:solidFill>
            <a:srgbClr val="FFE600"/>
          </a:solidFill>
          <a:ln cap="flat" cmpd="sng" w="1270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3d0a367c32c_9_62"/>
          <p:cNvSpPr/>
          <p:nvPr/>
        </p:nvSpPr>
        <p:spPr>
          <a:xfrm>
            <a:off x="411480" y="473659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Management  |  CD Projekt RED · Night City · 10 Settimane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2026-03-15T13:07:52Z</dcterms:created>
  <dc:creator>PptxGenJS</dc:creator>
</cp:coreProperties>
</file>